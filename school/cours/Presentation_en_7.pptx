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7" r:id="rId2"/>
    <p:sldId id="317" r:id="rId3"/>
    <p:sldId id="327" r:id="rId4"/>
    <p:sldId id="262" r:id="rId5"/>
    <p:sldId id="328" r:id="rId6"/>
    <p:sldId id="320" r:id="rId7"/>
    <p:sldId id="284" r:id="rId8"/>
    <p:sldId id="325" r:id="rId9"/>
    <p:sldId id="322" r:id="rId10"/>
    <p:sldId id="330" r:id="rId11"/>
    <p:sldId id="332" r:id="rId12"/>
    <p:sldId id="331" r:id="rId13"/>
    <p:sldId id="300" r:id="rId14"/>
    <p:sldId id="319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6D"/>
    <a:srgbClr val="FBFDA9"/>
    <a:srgbClr val="FAFC96"/>
    <a:srgbClr val="FDFA8D"/>
    <a:srgbClr val="FEFCBA"/>
    <a:srgbClr val="FDFDCF"/>
    <a:srgbClr val="F5F880"/>
    <a:srgbClr val="FFFF00"/>
    <a:srgbClr val="FDF961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5" autoAdjust="0"/>
    <p:restoredTop sz="81185" autoAdjust="0"/>
  </p:normalViewPr>
  <p:slideViewPr>
    <p:cSldViewPr snapToGrid="0">
      <p:cViewPr varScale="1">
        <p:scale>
          <a:sx n="54" d="100"/>
          <a:sy n="54" d="100"/>
        </p:scale>
        <p:origin x="11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E4CF3-88DD-4889-8A51-8A059FF4FFC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A2807-2ADE-422B-8960-4EF09E358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Salam, hi,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said</a:t>
            </a:r>
            <a:r>
              <a:rPr lang="fr-FR" dirty="0"/>
              <a:t> </a:t>
            </a:r>
            <a:r>
              <a:rPr lang="fr-FR" dirty="0" err="1"/>
              <a:t>abenna</a:t>
            </a:r>
            <a:r>
              <a:rPr lang="fr-FR" dirty="0"/>
              <a:t> </a:t>
            </a:r>
            <a:r>
              <a:rPr lang="fr-FR" dirty="0" err="1"/>
              <a:t>born</a:t>
            </a:r>
            <a:r>
              <a:rPr lang="fr-FR" dirty="0"/>
              <a:t> in </a:t>
            </a:r>
            <a:r>
              <a:rPr lang="fr-FR" dirty="0" err="1"/>
              <a:t>morocco</a:t>
            </a:r>
            <a:r>
              <a:rPr lang="fr-FR" dirty="0"/>
              <a:t> in 1994, I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doctor</a:t>
            </a:r>
            <a:r>
              <a:rPr lang="fr-FR" dirty="0"/>
              <a:t> </a:t>
            </a:r>
            <a:r>
              <a:rPr lang="fr-FR" dirty="0" err="1"/>
              <a:t>hamed</a:t>
            </a:r>
            <a:r>
              <a:rPr lang="fr-FR" dirty="0"/>
              <a:t> </a:t>
            </a:r>
            <a:r>
              <a:rPr lang="fr-FR" dirty="0" err="1"/>
              <a:t>ekhtiari</a:t>
            </a:r>
            <a:r>
              <a:rPr lang="fr-FR" dirty="0"/>
              <a:t> and </a:t>
            </a:r>
            <a:r>
              <a:rPr lang="fr-FR" dirty="0" err="1"/>
              <a:t>doctor</a:t>
            </a:r>
            <a:r>
              <a:rPr lang="fr-FR" dirty="0"/>
              <a:t> </a:t>
            </a:r>
            <a:r>
              <a:rPr lang="fr-FR" dirty="0" err="1"/>
              <a:t>arash</a:t>
            </a:r>
            <a:r>
              <a:rPr lang="fr-FR" dirty="0"/>
              <a:t> </a:t>
            </a:r>
            <a:r>
              <a:rPr lang="fr-FR" dirty="0" err="1"/>
              <a:t>rahmani</a:t>
            </a:r>
            <a:r>
              <a:rPr lang="fr-FR" dirty="0"/>
              <a:t> for the invitation to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postoctoral</a:t>
            </a:r>
            <a:r>
              <a:rPr lang="fr-FR" dirty="0"/>
              <a:t> </a:t>
            </a:r>
            <a:r>
              <a:rPr lang="fr-FR" dirty="0" err="1"/>
              <a:t>intervie</a:t>
            </a:r>
            <a:r>
              <a:rPr lang="fr-FR" dirty="0"/>
              <a:t> in the </a:t>
            </a:r>
            <a:r>
              <a:rPr lang="fr-FR" dirty="0" err="1"/>
              <a:t>subject</a:t>
            </a:r>
            <a:r>
              <a:rPr lang="fr-FR" dirty="0"/>
              <a:t> of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0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054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3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6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0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74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C58D-5545-2DEA-1A13-ECF57A63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9CE20-9355-30BB-E8E0-8D4CE59E1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0C233-6327-7BF4-6DFE-7A9FF3AC3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6317D-E48A-F325-D3C3-31FD7EB0E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82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4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….</a:t>
            </a:r>
          </a:p>
          <a:p>
            <a:r>
              <a:rPr lang="fr-FR" dirty="0"/>
              <a:t>I </a:t>
            </a:r>
            <a:r>
              <a:rPr lang="fr-FR" dirty="0" err="1"/>
              <a:t>hope</a:t>
            </a:r>
            <a:r>
              <a:rPr lang="fr-FR" dirty="0"/>
              <a:t> to </a:t>
            </a:r>
            <a:r>
              <a:rPr lang="fr-FR" dirty="0" err="1"/>
              <a:t>work</a:t>
            </a:r>
            <a:r>
              <a:rPr lang="fr-FR" dirty="0"/>
              <a:t> on the diagnostic and </a:t>
            </a:r>
            <a:r>
              <a:rPr lang="fr-FR" dirty="0" err="1"/>
              <a:t>prediction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of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desease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threat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humans</a:t>
            </a:r>
            <a:r>
              <a:rPr lang="fr-FR" dirty="0"/>
              <a:t> </a:t>
            </a:r>
            <a:r>
              <a:rPr lang="fr-FR" dirty="0" err="1"/>
              <a:t>lifs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as, </a:t>
            </a:r>
            <a:r>
              <a:rPr lang="fr-FR" dirty="0" err="1"/>
              <a:t>Parkison’s</a:t>
            </a:r>
            <a:r>
              <a:rPr lang="fr-FR" dirty="0"/>
              <a:t>, ….,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9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 </a:t>
            </a:r>
            <a:r>
              <a:rPr lang="fr-FR" dirty="0" err="1"/>
              <a:t>why</a:t>
            </a:r>
            <a:r>
              <a:rPr lang="fr-FR" dirty="0"/>
              <a:t> not </a:t>
            </a:r>
            <a:r>
              <a:rPr lang="fr-FR" dirty="0" err="1"/>
              <a:t>based</a:t>
            </a:r>
            <a:r>
              <a:rPr lang="fr-FR" dirty="0"/>
              <a:t> on the high </a:t>
            </a:r>
            <a:r>
              <a:rPr lang="fr-FR" dirty="0" err="1"/>
              <a:t>level</a:t>
            </a:r>
            <a:r>
              <a:rPr lang="fr-FR" dirty="0"/>
              <a:t> of investissement on USA </a:t>
            </a:r>
            <a:r>
              <a:rPr lang="fr-FR" dirty="0" err="1"/>
              <a:t>compared</a:t>
            </a:r>
            <a:r>
              <a:rPr lang="fr-FR" dirty="0"/>
              <a:t> to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contries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smart </a:t>
            </a:r>
            <a:r>
              <a:rPr lang="fr-FR" dirty="0" err="1"/>
              <a:t>device</a:t>
            </a:r>
            <a:r>
              <a:rPr lang="fr-FR" dirty="0"/>
              <a:t> or application, </a:t>
            </a:r>
            <a:r>
              <a:rPr lang="fr-FR" dirty="0" err="1"/>
              <a:t>that</a:t>
            </a:r>
            <a:r>
              <a:rPr lang="fr-FR" dirty="0"/>
              <a:t> can help the public to </a:t>
            </a:r>
            <a:r>
              <a:rPr lang="fr-FR" dirty="0" err="1"/>
              <a:t>make</a:t>
            </a:r>
            <a:r>
              <a:rPr lang="fr-FR" dirty="0"/>
              <a:t> online and fast </a:t>
            </a:r>
            <a:r>
              <a:rPr lang="fr-FR" dirty="0" err="1"/>
              <a:t>dignostic</a:t>
            </a:r>
            <a:r>
              <a:rPr lang="fr-FR" dirty="0"/>
              <a:t> or </a:t>
            </a:r>
            <a:r>
              <a:rPr lang="fr-FR" dirty="0" err="1"/>
              <a:t>predictions</a:t>
            </a:r>
            <a:r>
              <a:rPr lang="fr-FR" dirty="0"/>
              <a:t> in few seconds for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home or </a:t>
            </a:r>
            <a:r>
              <a:rPr lang="fr-FR" dirty="0" err="1"/>
              <a:t>work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Finally thank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youMr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hamed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for your attention, If there is some questions, please.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A2807-2ADE-422B-8960-4EF09E3584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48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9448-330F-1B81-9C4A-6398D8849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C0314-C6A4-2013-6519-58BB2BE72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91C1C-62AC-1F99-030C-F2A3C76D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23E3C-8625-009F-5AFF-1BEEB682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0470F-5DF7-4472-8769-10FE7964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2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6DE1-8529-8A51-7651-0926850B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B0BB-D121-3A25-B9B4-B9331EEB5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C6F35-C9A8-AF46-93C2-1D53A87D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85155-1B98-E8B9-3D52-D1B4E6925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F678E-471F-4DB7-9F69-EFBF5A14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2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FDE9-ED29-38DA-5140-89A624E7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20559-A643-4841-1936-8CBF71E0A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6FC21-183E-4CA9-287C-2B292D55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DD631-6AE0-89F4-9ECD-C476378C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BA4A-BB6D-4ABF-1882-3A928EBF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6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008B-5D76-2732-FDF8-2EA938C3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62AC-F245-5C0A-0D0E-54F0AAB9F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88902-B03E-F731-088D-30D79C914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DDA02-C208-92CD-A102-993874A1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A5CB5-D9E7-8BDB-F587-761EBEF6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FD553-0318-3EFB-B137-E3DF96B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0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1334-4B61-5B9A-534B-93C10407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B0EE4-5629-B0FA-0896-C18D7CCC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66022-C007-C9DA-C213-85DC5628B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79509-412B-32C3-C78B-3B1706573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D5B0E-12C3-91A0-352A-454F45433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11B42-32D2-2DCA-2A36-A6196187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70622-E4DE-2FB8-72C7-03DD0975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6F861-DFF1-1FA9-31AC-ED4C2E77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4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5F9C-F6EE-E7D8-D85A-34AEAAC7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DE205-1D5C-0321-881B-356FAD1B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ADB11-01ED-31D9-E082-134E8FC3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915B9-D0E8-81BA-5FDD-77E4369B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9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09C82-845D-91F9-31E6-DF64D66F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D9707-2218-C956-3EDB-E5AD583A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849C6-B4E1-8A62-730A-9CE7E7F9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1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1D16-21A0-1652-A6C9-9379B09C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B0D08-63EE-D5FE-7B1F-F213AB7EC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F1E01-E3BD-1097-54EF-74129C845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390D3-56FA-132E-B99E-004E5C08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B4258-5B91-8340-247E-11CACABD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8C24E-74A8-795F-DE2D-1AA71AB1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9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DD27-11A5-9D25-97FC-FBB6405E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341DE-1C04-D9D2-AD9D-8A5DD674E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9D4BF-E051-2545-89D5-437E6F7DD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BF7C3-B341-F96D-6329-5229692D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D76FB-C3EB-D577-00D4-72D915B8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A7407-47FB-4C5C-7844-D71B226F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3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C009-45A7-6CAE-E27D-244D32D9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75FDC-605B-2EA3-70A2-D13440E6C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FE313-46CB-26A8-4C2C-BF781629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5DDB-B02A-29AA-E757-FEFD2BA7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FD6F-D312-0816-5993-109DBB23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6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F620A-1749-ABD4-14EA-5AAF1C6EA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222BE-A0FD-FAA1-45BF-9F888D517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40C97-29BD-8FCE-FE1D-A73415A2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FAEA-68A7-3059-84A4-1DEA7303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D2208-16A6-02D1-E0D7-4B7A09F5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9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E0DEA-4912-9ECC-1F6A-C5C55A71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A6C25-D6FD-CB2B-98F5-6D3056A90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FFCC-FE26-5F76-A800-4D42FEBFD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AB41F-DBCE-45CE-99D5-039C1DD2394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BFA6D-1909-0907-016F-676608851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AF695-7C27-D4C5-8321-BF02E5E38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F65FA-7923-4B97-8E0A-15C041323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2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0.png"/><Relationship Id="rId26" Type="http://schemas.openxmlformats.org/officeDocument/2006/relationships/image" Target="../media/image16.png"/><Relationship Id="rId3" Type="http://schemas.openxmlformats.org/officeDocument/2006/relationships/image" Target="../media/image6.PNG"/><Relationship Id="rId21" Type="http://schemas.openxmlformats.org/officeDocument/2006/relationships/image" Target="../media/image160.png"/><Relationship Id="rId7" Type="http://schemas.openxmlformats.org/officeDocument/2006/relationships/image" Target="../media/image10.PNG"/><Relationship Id="rId25" Type="http://schemas.microsoft.com/office/2007/relationships/hdphoto" Target="../media/hdphoto1.wdp"/><Relationship Id="rId2" Type="http://schemas.openxmlformats.org/officeDocument/2006/relationships/image" Target="../media/image5.PN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24" Type="http://schemas.openxmlformats.org/officeDocument/2006/relationships/image" Target="../media/image15.png"/><Relationship Id="rId5" Type="http://schemas.openxmlformats.org/officeDocument/2006/relationships/image" Target="../media/image8.png"/><Relationship Id="rId23" Type="http://schemas.openxmlformats.org/officeDocument/2006/relationships/image" Target="../media/image14.png"/><Relationship Id="rId28" Type="http://schemas.openxmlformats.org/officeDocument/2006/relationships/image" Target="../media/image18.png"/><Relationship Id="rId10" Type="http://schemas.openxmlformats.org/officeDocument/2006/relationships/image" Target="../media/image13.png"/><Relationship Id="rId31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22" Type="http://schemas.openxmlformats.org/officeDocument/2006/relationships/slide" Target="slide7.xml"/><Relationship Id="rId27" Type="http://schemas.openxmlformats.org/officeDocument/2006/relationships/image" Target="../media/image17.png"/><Relationship Id="rId30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B8DE39B-BA51-209C-C2AA-68930E15BB87}"/>
              </a:ext>
            </a:extLst>
          </p:cNvPr>
          <p:cNvSpPr txBox="1">
            <a:spLocks/>
          </p:cNvSpPr>
          <p:nvPr/>
        </p:nvSpPr>
        <p:spPr>
          <a:xfrm>
            <a:off x="1401175" y="3322109"/>
            <a:ext cx="9437652" cy="13944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Post-Doctoral Associate in Neuroimaging Informed Neuromodulation</a:t>
            </a:r>
          </a:p>
          <a:p>
            <a:pPr>
              <a:lnSpc>
                <a:spcPct val="100000"/>
              </a:lnSpc>
            </a:pPr>
            <a:endParaRPr lang="en-US" sz="36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284D6E-B589-5BBF-034C-E044F7921866}"/>
              </a:ext>
            </a:extLst>
          </p:cNvPr>
          <p:cNvSpPr txBox="1">
            <a:spLocks/>
          </p:cNvSpPr>
          <p:nvPr/>
        </p:nvSpPr>
        <p:spPr>
          <a:xfrm>
            <a:off x="2876817" y="1725435"/>
            <a:ext cx="6438366" cy="1044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</a:t>
            </a:r>
            <a:r>
              <a:rPr lang="en-US" sz="2000" b="1" noProof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(PhD)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‘Sciences de </a:t>
            </a:r>
            <a:r>
              <a:rPr lang="en-US" sz="2000" b="1" noProof="0" dirty="0" err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l’Ingénieur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Biosciences (LSIB)’</a:t>
            </a:r>
          </a:p>
          <a:p>
            <a:r>
              <a:rPr lang="en-US" sz="2000" b="1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Discipline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(PhD)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‘Génie </a:t>
            </a:r>
            <a:r>
              <a:rPr lang="en-US" sz="2000" b="1" noProof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r>
              <a:rPr lang="en-US" sz="2000" b="1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Specialty</a:t>
            </a:r>
            <a:r>
              <a:rPr lang="en-US" sz="2000" b="1" noProof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‘</a:t>
            </a:r>
            <a:r>
              <a:rPr lang="en-US" sz="2000" b="1" noProof="0" dirty="0" err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Électronique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Signal et Intelligence </a:t>
            </a:r>
            <a:r>
              <a:rPr lang="en-US" sz="2000" b="1" noProof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noProof="0" dirty="0" err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rtificielle</a:t>
            </a:r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br>
              <a:rPr lang="en-US" sz="100" b="1" noProof="0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00" b="1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E11974E-BD23-265A-0E55-3691F0D7E5B8}"/>
              </a:ext>
            </a:extLst>
          </p:cNvPr>
          <p:cNvSpPr txBox="1">
            <a:spLocks/>
          </p:cNvSpPr>
          <p:nvPr/>
        </p:nvSpPr>
        <p:spPr>
          <a:xfrm>
            <a:off x="2471397" y="5574749"/>
            <a:ext cx="7297208" cy="894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presence of the jury members from University of Minnesota: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Hamed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Ekhtiari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Arash Rahmani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3D72B42-E397-11A9-6C9E-5A450CDB6E7B}"/>
              </a:ext>
            </a:extLst>
          </p:cNvPr>
          <p:cNvSpPr txBox="1">
            <a:spLocks/>
          </p:cNvSpPr>
          <p:nvPr/>
        </p:nvSpPr>
        <p:spPr>
          <a:xfrm>
            <a:off x="3763607" y="5212626"/>
            <a:ext cx="4657699" cy="3243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noProof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180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Mr. Said ABENNA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AD8651-317C-EF8B-58E9-2B72485C9A5A}"/>
              </a:ext>
            </a:extLst>
          </p:cNvPr>
          <p:cNvCxnSpPr>
            <a:cxnSpLocks/>
          </p:cNvCxnSpPr>
          <p:nvPr/>
        </p:nvCxnSpPr>
        <p:spPr>
          <a:xfrm flipH="1">
            <a:off x="1377174" y="420495"/>
            <a:ext cx="943765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86EE56-6621-56CC-FAFD-BC2578BE1B84}"/>
              </a:ext>
            </a:extLst>
          </p:cNvPr>
          <p:cNvCxnSpPr>
            <a:cxnSpLocks/>
          </p:cNvCxnSpPr>
          <p:nvPr/>
        </p:nvCxnSpPr>
        <p:spPr>
          <a:xfrm flipH="1">
            <a:off x="1401175" y="1592508"/>
            <a:ext cx="9437652" cy="1170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ubtitle 2">
            <a:extLst>
              <a:ext uri="{FF2B5EF4-FFF2-40B4-BE49-F238E27FC236}">
                <a16:creationId xmlns:a16="http://schemas.microsoft.com/office/drawing/2014/main" id="{EB771789-913D-0D2D-258F-76BA5521C1A1}"/>
              </a:ext>
            </a:extLst>
          </p:cNvPr>
          <p:cNvSpPr txBox="1">
            <a:spLocks/>
          </p:cNvSpPr>
          <p:nvPr/>
        </p:nvSpPr>
        <p:spPr>
          <a:xfrm>
            <a:off x="2688226" y="519729"/>
            <a:ext cx="6808462" cy="1032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MINNESOTA </a:t>
            </a:r>
          </a:p>
          <a:p>
            <a:pPr>
              <a:lnSpc>
                <a:spcPct val="110000"/>
              </a:lnSpc>
            </a:pPr>
            <a:r>
              <a:rPr lang="en-US" sz="14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PSYCHIATRY AND BEHAVIORAL SCIENCES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8F971E83-D006-3A64-B16F-FFA5F572AACF}"/>
              </a:ext>
            </a:extLst>
          </p:cNvPr>
          <p:cNvSpPr txBox="1">
            <a:spLocks/>
          </p:cNvSpPr>
          <p:nvPr/>
        </p:nvSpPr>
        <p:spPr>
          <a:xfrm>
            <a:off x="3260840" y="2770198"/>
            <a:ext cx="5666847" cy="37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r>
              <a:rPr lang="en-US" sz="2000" b="1" i="1" noProof="0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subject: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C8FE8-18C8-DF21-95E3-9D7FE57A4AA5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3F5C23-DEA4-EAAD-18F7-53DCCACE72D5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ED12B9-B0B2-60DD-A787-102DAA80BEC6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A7F7E24-88C0-F4A6-C4EB-4E3DF4657850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ction Button: Blank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A37D7A9-9D45-95B1-BA3B-E29FCFB4C068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30116A-EA9B-40DD-A2EE-C0744E6E1E7D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Slide Number Placeholder 21">
            <a:extLst>
              <a:ext uri="{FF2B5EF4-FFF2-40B4-BE49-F238E27FC236}">
                <a16:creationId xmlns:a16="http://schemas.microsoft.com/office/drawing/2014/main" id="{B90E4BC3-18E0-43AD-92C5-53212D3B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01E5399-4035-457B-B16C-902AE3B94E97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89EF04-A2B6-4397-9354-B7DF20692D01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FDE785-F4F0-46F7-B272-9EAFBA6F97AA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072A95DC-A7EC-4B64-A492-19F783DA3D97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DF7C69-9E09-255B-EA7A-B196D7F97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482" y="499944"/>
            <a:ext cx="1857358" cy="104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Minnesota Department of Psychiatry &amp; Behavioral Sciences |  LinkedIn">
            <a:extLst>
              <a:ext uri="{FF2B5EF4-FFF2-40B4-BE49-F238E27FC236}">
                <a16:creationId xmlns:a16="http://schemas.microsoft.com/office/drawing/2014/main" id="{3486FE88-5B8E-E5FC-D504-7F556B485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623" y="442111"/>
            <a:ext cx="1555203" cy="112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50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4C03B13-7505-F1A6-203D-EFB429369DA1}"/>
              </a:ext>
            </a:extLst>
          </p:cNvPr>
          <p:cNvSpPr txBox="1">
            <a:spLocks/>
          </p:cNvSpPr>
          <p:nvPr/>
        </p:nvSpPr>
        <p:spPr>
          <a:xfrm>
            <a:off x="2547708" y="1943697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AB40893-03DD-AF22-A1CD-2A11760EF518}"/>
              </a:ext>
            </a:extLst>
          </p:cNvPr>
          <p:cNvSpPr/>
          <p:nvPr/>
        </p:nvSpPr>
        <p:spPr>
          <a:xfrm>
            <a:off x="1785944" y="190326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8FC2AAB-7C54-4FBB-1FEF-DD9A276C65BC}"/>
              </a:ext>
            </a:extLst>
          </p:cNvPr>
          <p:cNvSpPr/>
          <p:nvPr/>
        </p:nvSpPr>
        <p:spPr>
          <a:xfrm>
            <a:off x="1785944" y="2733002"/>
            <a:ext cx="476775" cy="45582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8830504-3A6C-5247-C4BE-F937364EC447}"/>
              </a:ext>
            </a:extLst>
          </p:cNvPr>
          <p:cNvSpPr/>
          <p:nvPr/>
        </p:nvSpPr>
        <p:spPr>
          <a:xfrm>
            <a:off x="1778745" y="3648565"/>
            <a:ext cx="476775" cy="45582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4FCAB4-C39E-CEBF-120F-73EE13E7B921}"/>
              </a:ext>
            </a:extLst>
          </p:cNvPr>
          <p:cNvSpPr/>
          <p:nvPr/>
        </p:nvSpPr>
        <p:spPr>
          <a:xfrm>
            <a:off x="1778745" y="4498911"/>
            <a:ext cx="476775" cy="45582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C67B6-2279-C2D0-A32C-F28281A15FCE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4570C43-8B67-E2E5-AD46-4EF8A031A125}"/>
              </a:ext>
            </a:extLst>
          </p:cNvPr>
          <p:cNvSpPr/>
          <p:nvPr/>
        </p:nvSpPr>
        <p:spPr>
          <a:xfrm>
            <a:off x="1870452" y="198932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A11B062-9B2C-DBF0-C1DB-B83EFC1B8C9F}"/>
              </a:ext>
            </a:extLst>
          </p:cNvPr>
          <p:cNvSpPr/>
          <p:nvPr/>
        </p:nvSpPr>
        <p:spPr>
          <a:xfrm>
            <a:off x="1870452" y="279373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Action Button: Blank 1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94C1A5B-DF4B-704A-DDA8-51AC7A3318C7}"/>
              </a:ext>
            </a:extLst>
          </p:cNvPr>
          <p:cNvSpPr/>
          <p:nvPr/>
        </p:nvSpPr>
        <p:spPr>
          <a:xfrm>
            <a:off x="1870452" y="3717791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Action Button: Blank 1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6B329D1-8042-46E1-495F-3C1BA6C1E76B}"/>
              </a:ext>
            </a:extLst>
          </p:cNvPr>
          <p:cNvSpPr/>
          <p:nvPr/>
        </p:nvSpPr>
        <p:spPr>
          <a:xfrm>
            <a:off x="1870452" y="4593147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719AA74-4D0E-3838-9CE8-F495F56F68EA}"/>
              </a:ext>
            </a:extLst>
          </p:cNvPr>
          <p:cNvSpPr txBox="1">
            <a:spLocks/>
          </p:cNvSpPr>
          <p:nvPr/>
        </p:nvSpPr>
        <p:spPr>
          <a:xfrm>
            <a:off x="2547708" y="2773438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B9EBF987-ECF9-0AF3-EBAE-74CD4123451C}"/>
              </a:ext>
            </a:extLst>
          </p:cNvPr>
          <p:cNvSpPr txBox="1">
            <a:spLocks/>
          </p:cNvSpPr>
          <p:nvPr/>
        </p:nvSpPr>
        <p:spPr>
          <a:xfrm>
            <a:off x="2547708" y="3700724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Project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D39806BE-A8EF-4E5C-EBCD-003BDD7631C7}"/>
              </a:ext>
            </a:extLst>
          </p:cNvPr>
          <p:cNvSpPr txBox="1">
            <a:spLocks/>
          </p:cNvSpPr>
          <p:nvPr/>
        </p:nvSpPr>
        <p:spPr>
          <a:xfrm>
            <a:off x="2547708" y="4552572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DAAD10-59BE-B595-8C2D-B95CEB5B05E0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FA451-4F35-3A99-64CC-88F8C9183B06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28552-CC50-BAD6-5D29-367AE2AFEB8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Action Button: Blank 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9C48D1F-B044-B2C4-F096-436EE89F34C2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ction Button: Blank 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3B6D24-B28F-863A-38E0-C7E2D729E0B1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B9E9B6-7113-4817-97F0-D7B771ECD73E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Slide Number Placeholder 21">
            <a:extLst>
              <a:ext uri="{FF2B5EF4-FFF2-40B4-BE49-F238E27FC236}">
                <a16:creationId xmlns:a16="http://schemas.microsoft.com/office/drawing/2014/main" id="{D53293E8-5D51-41A1-A283-5589568F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6A5C1AFB-6305-4D69-B7F9-BC3900F69E30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499994-204A-4E4F-B815-BA479245F5EB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A0211F-FC29-48B7-AEB1-1E11773DEED8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C2D80B7-2D4E-427D-A648-71F4926FBA2B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49502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9" grpId="0" animBg="1"/>
      <p:bldP spid="30" grpId="0" animBg="1"/>
      <p:bldP spid="32" grpId="0" animBg="1"/>
      <p:bldP spid="33" grpId="0" animBg="1"/>
      <p:bldP spid="7" grpId="0"/>
      <p:bldP spid="25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C67B6-2279-C2D0-A32C-F28281A15FCE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DAAD10-59BE-B595-8C2D-B95CEB5B05E0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FA451-4F35-3A99-64CC-88F8C9183B06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28552-CC50-BAD6-5D29-367AE2AFEB8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Action Button: Blank 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9C48D1F-B044-B2C4-F096-436EE89F34C2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ction Button: Blank 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3B6D24-B28F-863A-38E0-C7E2D729E0B1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22AE4E-08CB-4AA7-BB80-ECD187E7239F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Slide Number Placeholder 21">
            <a:extLst>
              <a:ext uri="{FF2B5EF4-FFF2-40B4-BE49-F238E27FC236}">
                <a16:creationId xmlns:a16="http://schemas.microsoft.com/office/drawing/2014/main" id="{831F61B8-7DAB-449E-9DBA-672A5F7C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718DE5CF-69E7-4704-AFE0-CC2F5061FE74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F97E70-8CA3-49F2-B611-060D3B9D7226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6E032E-7FD0-4265-9C0D-0B9F3FE25273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9957CCAC-0DE8-4061-BA57-6BD7453B95C1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3B1EC8-3DAC-A35E-3237-1A558CD71EA9}"/>
              </a:ext>
            </a:extLst>
          </p:cNvPr>
          <p:cNvSpPr txBox="1">
            <a:spLocks/>
          </p:cNvSpPr>
          <p:nvPr/>
        </p:nvSpPr>
        <p:spPr>
          <a:xfrm>
            <a:off x="2547708" y="1943697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340E17-3CBF-183B-500A-640F2289AA59}"/>
              </a:ext>
            </a:extLst>
          </p:cNvPr>
          <p:cNvSpPr/>
          <p:nvPr/>
        </p:nvSpPr>
        <p:spPr>
          <a:xfrm>
            <a:off x="1785944" y="190326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5DA5EC-10EF-0E10-7E23-1C303BE2226B}"/>
              </a:ext>
            </a:extLst>
          </p:cNvPr>
          <p:cNvSpPr/>
          <p:nvPr/>
        </p:nvSpPr>
        <p:spPr>
          <a:xfrm>
            <a:off x="1785944" y="2733002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118D08-9591-C4DC-E97E-CCD9682CC425}"/>
              </a:ext>
            </a:extLst>
          </p:cNvPr>
          <p:cNvSpPr/>
          <p:nvPr/>
        </p:nvSpPr>
        <p:spPr>
          <a:xfrm>
            <a:off x="1778745" y="3648565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A52B4B-B0C8-7558-F7C6-1046C02A3965}"/>
              </a:ext>
            </a:extLst>
          </p:cNvPr>
          <p:cNvSpPr/>
          <p:nvPr/>
        </p:nvSpPr>
        <p:spPr>
          <a:xfrm>
            <a:off x="1778745" y="4498911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Action Button: Blank 1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83DF156-00A2-2FA6-FFE2-694595814E8F}"/>
              </a:ext>
            </a:extLst>
          </p:cNvPr>
          <p:cNvSpPr/>
          <p:nvPr/>
        </p:nvSpPr>
        <p:spPr>
          <a:xfrm>
            <a:off x="1870452" y="198932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Action Button: Blank 1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0C45C41-4107-C33F-E71A-08A46F1D9E22}"/>
              </a:ext>
            </a:extLst>
          </p:cNvPr>
          <p:cNvSpPr/>
          <p:nvPr/>
        </p:nvSpPr>
        <p:spPr>
          <a:xfrm>
            <a:off x="1870452" y="279373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Action Button: Blank 2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2CE58D1-0B3B-0B29-2566-EF40A40DB02D}"/>
              </a:ext>
            </a:extLst>
          </p:cNvPr>
          <p:cNvSpPr/>
          <p:nvPr/>
        </p:nvSpPr>
        <p:spPr>
          <a:xfrm>
            <a:off x="1870452" y="3717791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Action Button: Blank 2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232D714-899F-908D-92C1-49D398606853}"/>
              </a:ext>
            </a:extLst>
          </p:cNvPr>
          <p:cNvSpPr/>
          <p:nvPr/>
        </p:nvSpPr>
        <p:spPr>
          <a:xfrm>
            <a:off x="1870452" y="4593147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651830E-41AA-85F9-7392-2E344B89455F}"/>
              </a:ext>
            </a:extLst>
          </p:cNvPr>
          <p:cNvSpPr txBox="1">
            <a:spLocks/>
          </p:cNvSpPr>
          <p:nvPr/>
        </p:nvSpPr>
        <p:spPr>
          <a:xfrm>
            <a:off x="2547708" y="2773438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E592EEC3-2DD2-3889-E468-97F756DBA2EC}"/>
              </a:ext>
            </a:extLst>
          </p:cNvPr>
          <p:cNvSpPr txBox="1">
            <a:spLocks/>
          </p:cNvSpPr>
          <p:nvPr/>
        </p:nvSpPr>
        <p:spPr>
          <a:xfrm>
            <a:off x="2547708" y="3700724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Professional Project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AEFFCE22-F103-9E27-0758-D5BBF93C8824}"/>
              </a:ext>
            </a:extLst>
          </p:cNvPr>
          <p:cNvSpPr txBox="1">
            <a:spLocks/>
          </p:cNvSpPr>
          <p:nvPr/>
        </p:nvSpPr>
        <p:spPr>
          <a:xfrm>
            <a:off x="2547708" y="4552572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7154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32D47-C149-E335-2FEE-D956080C2B62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1D2152-E437-C063-BDB7-2FD85BA3FD9E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1</a:t>
            </a:r>
          </a:p>
        </p:txBody>
      </p:sp>
      <p:sp>
        <p:nvSpPr>
          <p:cNvPr id="21" name="Action Button: Blank 2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E30425C-20D8-06DC-18B7-D95E94AAA017}"/>
              </a:ext>
            </a:extLst>
          </p:cNvPr>
          <p:cNvSpPr/>
          <p:nvPr/>
        </p:nvSpPr>
        <p:spPr>
          <a:xfrm>
            <a:off x="228443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84C0E2-0BFB-6A59-EE3A-5829E03CB4E7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ACE14F-4BCE-2939-271E-D0E103580029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B0AD05-5404-24E1-DB17-C66DC146F2B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603A0A-3AC6-7A57-80BE-568445C75EE3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076BEE9-D985-5AA3-1362-257E64E5F7D0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011FBE-7677-947F-E42E-287271E3E072}"/>
              </a:ext>
            </a:extLst>
          </p:cNvPr>
          <p:cNvSpPr txBox="1">
            <a:spLocks/>
          </p:cNvSpPr>
          <p:nvPr/>
        </p:nvSpPr>
        <p:spPr>
          <a:xfrm>
            <a:off x="748367" y="1191104"/>
            <a:ext cx="11116915" cy="1897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Courier New" panose="02070309020205020404" pitchFamily="49" charset="0"/>
              <a:buChar char="o"/>
            </a:pPr>
            <a:endParaRPr lang="en-US" sz="20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School Diploma 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and Earth Sciences 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From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Tagzirt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-High-School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Beni-Mellal;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in Physics: Option of Electronics | From FP, USMS, Beni-Mellal;</a:t>
            </a:r>
            <a:endParaRPr lang="en-US" sz="20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of Sciences in Intelligent and Communicant Systems | From ENSA, USMBA, Fez;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Doctorate Specialist: Electronics, Signal, and Artificial Intelligence | From FST, UH2, Casablanca;</a:t>
            </a:r>
            <a:endParaRPr lang="en-US" sz="20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9E04629-97F3-4478-4E0B-1AB7C70C0EB5}"/>
              </a:ext>
            </a:extLst>
          </p:cNvPr>
          <p:cNvSpPr/>
          <p:nvPr/>
        </p:nvSpPr>
        <p:spPr>
          <a:xfrm>
            <a:off x="743013" y="951698"/>
            <a:ext cx="11122269" cy="444043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Diplomas: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34CAAF7-46FA-6D7C-76DC-5BDCF687BBD4}"/>
              </a:ext>
            </a:extLst>
          </p:cNvPr>
          <p:cNvSpPr txBox="1">
            <a:spLocks/>
          </p:cNvSpPr>
          <p:nvPr/>
        </p:nvSpPr>
        <p:spPr>
          <a:xfrm>
            <a:off x="753717" y="3429000"/>
            <a:ext cx="11116915" cy="29279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noProof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Final-Project: Processing and Analysis of ECG Signals (</a:t>
            </a:r>
            <a:r>
              <a:rPr lang="en-US" sz="2000" noProof="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of Cybernetic Systems and Cryptography Algorithms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(Text, Image; RSA, DES, AES)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: Design and Embedding of an Online Subscription, Management, and Payment System (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RFID, 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Arduino, Flask/</a:t>
            </a:r>
            <a:r>
              <a:rPr lang="en-US" sz="2000" noProof="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/html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SQL ,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OpenCV);</a:t>
            </a:r>
          </a:p>
          <a:p>
            <a:pPr marL="342900" indent="-342900" algn="just">
              <a:buFontTx/>
              <a:buChar char="-"/>
            </a:pP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Electroencephalography-based Brain-Computer Interface: Embedding a Command-Control for Intelligent Systems by Detection and Modeling of Brain Activities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(Arduino, Python, 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ML/DL, MH, MNE).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4B93D17-EE5D-8B02-ACD5-A70AB91767FF}"/>
              </a:ext>
            </a:extLst>
          </p:cNvPr>
          <p:cNvSpPr/>
          <p:nvPr/>
        </p:nvSpPr>
        <p:spPr>
          <a:xfrm>
            <a:off x="753716" y="3259970"/>
            <a:ext cx="11116915" cy="445741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58F08-3B62-4E03-9EC8-951985C24476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Slide Number Placeholder 21">
            <a:extLst>
              <a:ext uri="{FF2B5EF4-FFF2-40B4-BE49-F238E27FC236}">
                <a16:creationId xmlns:a16="http://schemas.microsoft.com/office/drawing/2014/main" id="{8299D332-4AB7-44FB-B390-A58032A0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5E88082B-6A09-47E2-B53D-6CCA793D031E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53DA2-8C04-41FE-8B1A-F22948B69F0E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BBDED0-F105-4442-B0D0-807114D24350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B8081BD8-8B8E-4BD1-AD3E-E0A9C90E4860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44997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C67B6-2279-C2D0-A32C-F28281A15FCE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DAAD10-59BE-B595-8C2D-B95CEB5B05E0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FA451-4F35-3A99-64CC-88F8C9183B06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28552-CC50-BAD6-5D29-367AE2AFEB8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Action Button: Blank 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9C48D1F-B044-B2C4-F096-436EE89F34C2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ction Button: Blank 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3B6D24-B28F-863A-38E0-C7E2D729E0B1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43B10D-B757-4E96-B470-6B2D92686E38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Slide Number Placeholder 21">
            <a:extLst>
              <a:ext uri="{FF2B5EF4-FFF2-40B4-BE49-F238E27FC236}">
                <a16:creationId xmlns:a16="http://schemas.microsoft.com/office/drawing/2014/main" id="{1A945393-BD1F-4C8D-B8A7-C68E5167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CF41A072-91CD-42C6-8D15-CDBDBBFEF237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79C4C6-A670-417E-BC08-F0E48281D3CC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75403-547C-4E3A-AB48-AF23CD87E505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5DEF5E09-8D3B-4A58-8410-195C3AA65B23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CEDC2868-24B5-2FA6-3C7F-2D7701333F1B}"/>
              </a:ext>
            </a:extLst>
          </p:cNvPr>
          <p:cNvSpPr txBox="1">
            <a:spLocks/>
          </p:cNvSpPr>
          <p:nvPr/>
        </p:nvSpPr>
        <p:spPr>
          <a:xfrm>
            <a:off x="2547708" y="1943697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B34066-C45E-BC07-A36C-2F1979180EE5}"/>
              </a:ext>
            </a:extLst>
          </p:cNvPr>
          <p:cNvSpPr/>
          <p:nvPr/>
        </p:nvSpPr>
        <p:spPr>
          <a:xfrm>
            <a:off x="1785944" y="190326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25F791E-DD4D-901C-0876-05B89DCDAB88}"/>
              </a:ext>
            </a:extLst>
          </p:cNvPr>
          <p:cNvSpPr/>
          <p:nvPr/>
        </p:nvSpPr>
        <p:spPr>
          <a:xfrm>
            <a:off x="1785944" y="273300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8610225-CDB7-68C1-FD05-AA43DCEB95B7}"/>
              </a:ext>
            </a:extLst>
          </p:cNvPr>
          <p:cNvSpPr/>
          <p:nvPr/>
        </p:nvSpPr>
        <p:spPr>
          <a:xfrm>
            <a:off x="1778745" y="3648565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FAC0E13-84BA-73AA-6D1D-D7433B606EE1}"/>
              </a:ext>
            </a:extLst>
          </p:cNvPr>
          <p:cNvSpPr/>
          <p:nvPr/>
        </p:nvSpPr>
        <p:spPr>
          <a:xfrm>
            <a:off x="1778745" y="4498911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7" name="Action Button: Blank 4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C98169C-40F2-AFCD-5578-5B65F114AE23}"/>
              </a:ext>
            </a:extLst>
          </p:cNvPr>
          <p:cNvSpPr/>
          <p:nvPr/>
        </p:nvSpPr>
        <p:spPr>
          <a:xfrm>
            <a:off x="1870452" y="198932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Action Button: Blank 4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99C1CCA-591B-73ED-579F-2529CC54FC6F}"/>
              </a:ext>
            </a:extLst>
          </p:cNvPr>
          <p:cNvSpPr/>
          <p:nvPr/>
        </p:nvSpPr>
        <p:spPr>
          <a:xfrm>
            <a:off x="1870452" y="279373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Action Button: Blank 4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37E0385-AEEC-7C46-C672-87871D774E5F}"/>
              </a:ext>
            </a:extLst>
          </p:cNvPr>
          <p:cNvSpPr/>
          <p:nvPr/>
        </p:nvSpPr>
        <p:spPr>
          <a:xfrm>
            <a:off x="1870452" y="3717791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Action Button: Blank 4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C81B07D-2DA1-40B2-10C9-F6BEDBBDB514}"/>
              </a:ext>
            </a:extLst>
          </p:cNvPr>
          <p:cNvSpPr/>
          <p:nvPr/>
        </p:nvSpPr>
        <p:spPr>
          <a:xfrm>
            <a:off x="1870452" y="4593147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Subtitle 2">
            <a:extLst>
              <a:ext uri="{FF2B5EF4-FFF2-40B4-BE49-F238E27FC236}">
                <a16:creationId xmlns:a16="http://schemas.microsoft.com/office/drawing/2014/main" id="{9212FF0B-AE6B-68F9-D428-2D48F624B5CC}"/>
              </a:ext>
            </a:extLst>
          </p:cNvPr>
          <p:cNvSpPr txBox="1">
            <a:spLocks/>
          </p:cNvSpPr>
          <p:nvPr/>
        </p:nvSpPr>
        <p:spPr>
          <a:xfrm>
            <a:off x="2547708" y="2773438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PhD Record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90102947-C613-ED11-E6CB-47575B49B35F}"/>
              </a:ext>
            </a:extLst>
          </p:cNvPr>
          <p:cNvSpPr txBox="1">
            <a:spLocks/>
          </p:cNvSpPr>
          <p:nvPr/>
        </p:nvSpPr>
        <p:spPr>
          <a:xfrm>
            <a:off x="2547708" y="3700724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Professional Project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0E9A150-3C2F-4DC8-61BD-8550258A125C}"/>
              </a:ext>
            </a:extLst>
          </p:cNvPr>
          <p:cNvSpPr txBox="1">
            <a:spLocks/>
          </p:cNvSpPr>
          <p:nvPr/>
        </p:nvSpPr>
        <p:spPr>
          <a:xfrm>
            <a:off x="2547708" y="4552572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4308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Sensors | Free Full-Text | Challenge Accepted? Individual Performance Gains  for Motor Imagery Practice with Humanoid Robotic EEG Neurofeedback">
            <a:extLst>
              <a:ext uri="{FF2B5EF4-FFF2-40B4-BE49-F238E27FC236}">
                <a16:creationId xmlns:a16="http://schemas.microsoft.com/office/drawing/2014/main" id="{997F207E-C028-23AD-8161-0EBFCCC41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842" y="2294559"/>
            <a:ext cx="5526088" cy="3814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Frontiers | EEG-Based BCI Control Schemes for Lower-Limb Assistive-Robots">
            <a:extLst>
              <a:ext uri="{FF2B5EF4-FFF2-40B4-BE49-F238E27FC236}">
                <a16:creationId xmlns:a16="http://schemas.microsoft.com/office/drawing/2014/main" id="{745E5E98-4EBD-8456-321A-359915E3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80" y="2294559"/>
            <a:ext cx="5482151" cy="3814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9B3871F6-26DE-93C0-18D7-ADBB56EB34E5}"/>
              </a:ext>
            </a:extLst>
          </p:cNvPr>
          <p:cNvSpPr txBox="1">
            <a:spLocks/>
          </p:cNvSpPr>
          <p:nvPr/>
        </p:nvSpPr>
        <p:spPr>
          <a:xfrm>
            <a:off x="753717" y="2183805"/>
            <a:ext cx="10699029" cy="1705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Courier New" panose="02070309020205020404" pitchFamily="49" charset="0"/>
              <a:buChar char="o"/>
            </a:pPr>
            <a:endParaRPr lang="en-US" sz="2000" noProof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3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instability of real-time biomedical signal acquisition due to low-amplitude (10–100 µV) and biopotential noise;</a:t>
            </a:r>
            <a:endParaRPr lang="en-US" sz="2300" noProof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3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high volume of real-time input signals, ranging from 3 to 512 electrodes;</a:t>
            </a:r>
            <a:endParaRPr lang="en-US" sz="2300" noProof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3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Classifying mental tasks with acceptable accuracy (&gt;70%).</a:t>
            </a:r>
            <a:endParaRPr lang="en-US" sz="2300" noProof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 &gt;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32D47-C149-E335-2FEE-D956080C2B62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1D2152-E437-C063-BDB7-2FD85BA3FD9E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2</a:t>
            </a:r>
          </a:p>
        </p:txBody>
      </p:sp>
      <p:sp>
        <p:nvSpPr>
          <p:cNvPr id="21" name="Action Button: Blank 2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E30425C-20D8-06DC-18B7-D95E94AAA017}"/>
              </a:ext>
            </a:extLst>
          </p:cNvPr>
          <p:cNvSpPr/>
          <p:nvPr/>
        </p:nvSpPr>
        <p:spPr>
          <a:xfrm>
            <a:off x="228443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84C0E2-0BFB-6A59-EE3A-5829E03CB4E7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ACE14F-4BCE-2939-271E-D0E103580029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B0AD05-5404-24E1-DB17-C66DC146F2B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603A0A-3AC6-7A57-80BE-568445C75EE3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076BEE9-D985-5AA3-1362-257E64E5F7D0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E14CB49E-8B58-6F5E-BD62-C3253E74A89E}"/>
              </a:ext>
            </a:extLst>
          </p:cNvPr>
          <p:cNvSpPr/>
          <p:nvPr/>
        </p:nvSpPr>
        <p:spPr>
          <a:xfrm>
            <a:off x="763738" y="1992138"/>
            <a:ext cx="10699029" cy="444043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Problematic :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FCF0019-8D7A-30EB-9D39-88BE2294C810}"/>
              </a:ext>
            </a:extLst>
          </p:cNvPr>
          <p:cNvSpPr txBox="1">
            <a:spLocks/>
          </p:cNvSpPr>
          <p:nvPr/>
        </p:nvSpPr>
        <p:spPr>
          <a:xfrm>
            <a:off x="775383" y="3933950"/>
            <a:ext cx="10699029" cy="25494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noProof="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approach to research and development is being implemented to achieve our key objectives, which include:</a:t>
            </a:r>
            <a:endParaRPr lang="en-US" sz="2000" noProof="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acquisition of biomedical signals</a:t>
            </a:r>
            <a:r>
              <a:rPr lang="en-US" sz="1700" noProof="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the removal of all noise sources to stabilize signal variability</a:t>
            </a:r>
            <a:r>
              <a:rPr lang="en-US" sz="1700" noProof="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spatial data distribution to enhance classification accuracy;</a:t>
            </a:r>
            <a:endParaRPr lang="en-US" sz="1700" noProof="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internal algorithm parameters to achieve optimal prediction performance across the entire system.</a:t>
            </a:r>
            <a:endParaRPr lang="en-US" sz="1700" noProof="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714D8A7-B8E2-251C-2B29-9747AD25F972}"/>
              </a:ext>
            </a:extLst>
          </p:cNvPr>
          <p:cNvSpPr/>
          <p:nvPr/>
        </p:nvSpPr>
        <p:spPr>
          <a:xfrm>
            <a:off x="772707" y="3946037"/>
            <a:ext cx="10691797" cy="444043"/>
          </a:xfrm>
          <a:prstGeom prst="round2Same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BAA0BD-3A3C-4506-B0BF-DF3921EA2796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Slide Number Placeholder 21">
            <a:extLst>
              <a:ext uri="{FF2B5EF4-FFF2-40B4-BE49-F238E27FC236}">
                <a16:creationId xmlns:a16="http://schemas.microsoft.com/office/drawing/2014/main" id="{43C9F903-C8C5-43F1-949B-45238621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1" y="6492876"/>
            <a:ext cx="1103888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B37FE356-DE22-45BC-82DE-8A03DB45D295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694E7D-654A-465E-8410-05B431DFD4A2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462FF2-1BC6-4361-B58B-6F83979AB107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775E07CA-1700-4911-8A65-009E33C32F58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5CEED99-1D49-EE6A-2927-2922874C8AEB}"/>
              </a:ext>
            </a:extLst>
          </p:cNvPr>
          <p:cNvSpPr txBox="1">
            <a:spLocks/>
          </p:cNvSpPr>
          <p:nvPr/>
        </p:nvSpPr>
        <p:spPr>
          <a:xfrm>
            <a:off x="763738" y="875002"/>
            <a:ext cx="10699029" cy="10313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100" b="1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1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Electroencephalography-based Brain-Computer Interface: Embedding a Command-Control for Intelligent Systems by Detection and Modeling of Brain Activities 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B2F824E-3DAF-BFFC-EC1F-FB4BCD4BD103}"/>
              </a:ext>
            </a:extLst>
          </p:cNvPr>
          <p:cNvSpPr/>
          <p:nvPr/>
        </p:nvSpPr>
        <p:spPr>
          <a:xfrm>
            <a:off x="772707" y="811524"/>
            <a:ext cx="10704383" cy="444043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100" b="1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46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AB111F-3847-E673-24A5-F4E6338291E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188" y="1849434"/>
            <a:ext cx="3045743" cy="2311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3CBFC5-8E46-5499-4AA0-71C14951C9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445" y="2611305"/>
            <a:ext cx="3231163" cy="2568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74983D-4A93-875C-C7D7-3DC71E0635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98" y="2277915"/>
            <a:ext cx="3307867" cy="2510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E2AA6F-9B5E-25EE-D595-2E53F3DEC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995" y="1769306"/>
            <a:ext cx="2388483" cy="301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1A5B6-A59E-D236-9156-F4CBD6D1FAF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829" y="3835616"/>
            <a:ext cx="3333582" cy="2547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0B04FF-CB4F-E8A3-64BE-869E9CE10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514" y="5031085"/>
            <a:ext cx="3960742" cy="13629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62B75-62A4-ACE7-1EE3-A012F576D8B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394" y="1689700"/>
            <a:ext cx="3192754" cy="2417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0F9975-9CD4-B339-B4C2-D5C3051D3B6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38333" y="1817165"/>
            <a:ext cx="7141074" cy="4657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807D85-C547-6191-1685-D357BD4E019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495" y="1879551"/>
            <a:ext cx="8168733" cy="45789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3F0593-F610-8CC5-26DC-00C1494D785D}"/>
                  </a:ext>
                </a:extLst>
              </p:cNvPr>
              <p:cNvSpPr txBox="1"/>
              <p:nvPr/>
            </p:nvSpPr>
            <p:spPr>
              <a:xfrm>
                <a:off x="8899463" y="1951791"/>
                <a:ext cx="3223405" cy="719749"/>
              </a:xfrm>
              <a:prstGeom prst="rect">
                <a:avLst/>
              </a:prstGeom>
              <a:solidFill>
                <a:srgbClr val="FFFF6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600" b="1" i="1" noProof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noProof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600" b="1" i="1" noProof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b>
                        <m:sup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US" sz="1600" b="1" i="1" noProof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noProof="0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b="1" noProof="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3F0593-F610-8CC5-26DC-00C1494D7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463" y="1951791"/>
                <a:ext cx="3223405" cy="7197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ubtitle 2">
                <a:extLst>
                  <a:ext uri="{FF2B5EF4-FFF2-40B4-BE49-F238E27FC236}">
                    <a16:creationId xmlns:a16="http://schemas.microsoft.com/office/drawing/2014/main" id="{C41E2F49-F871-3FEF-1783-85D3EBB9E5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14956" y="2664970"/>
                <a:ext cx="3192754" cy="6333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1400" b="1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 </a:t>
                </a:r>
                <a:r>
                  <a:rPr lang="en-US" sz="1400" noProof="0" dirty="0" err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nombre</a:t>
                </a:r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seconds;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noProof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400" noProof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la </a:t>
                </a:r>
                <a:r>
                  <a:rPr lang="en-US" sz="1400" noProof="0" dirty="0" err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fréquence</a:t>
                </a:r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noProof="0" dirty="0" err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d’échantillonnage</a:t>
                </a:r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 </a:t>
                </a:r>
                <a:r>
                  <a:rPr lang="en-US" sz="1400" noProof="0" dirty="0" err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signaux</a:t>
                </a:r>
                <a:r>
                  <a:rPr lang="en-US" sz="1400" noProof="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Subtitle 2">
                <a:extLst>
                  <a:ext uri="{FF2B5EF4-FFF2-40B4-BE49-F238E27FC236}">
                    <a16:creationId xmlns:a16="http://schemas.microsoft.com/office/drawing/2014/main" id="{C41E2F49-F871-3FEF-1783-85D3EBB9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956" y="2664970"/>
                <a:ext cx="3192754" cy="633374"/>
              </a:xfrm>
              <a:prstGeom prst="rect">
                <a:avLst/>
              </a:prstGeom>
              <a:blipFill>
                <a:blip r:embed="rId21"/>
                <a:stretch>
                  <a:fillRect t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61DCA99-29C8-C441-EFE8-0DCFA17F0DC1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C7637A-7A1F-CAF8-2331-E82D0C9557CA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9AC497-0CEE-0DEE-4F9D-80DF3AEE2112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ction Button: Blank 4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30DABA6-6414-EB19-C00F-07EBE941D1C9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ction Button: Blank 4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97A4BA6-F492-1DD5-CA6A-52D4DF0D4C39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6E94C5D-CDC4-F00E-8DDE-AA3BFB71E8FC}"/>
              </a:ext>
            </a:extLst>
          </p:cNvPr>
          <p:cNvSpPr txBox="1">
            <a:spLocks/>
          </p:cNvSpPr>
          <p:nvPr/>
        </p:nvSpPr>
        <p:spPr>
          <a:xfrm>
            <a:off x="753718" y="309054"/>
            <a:ext cx="11438282" cy="45582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 &gt; Technical Structure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31DEEE-92C2-65F2-A48C-64F32D4C00AA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D07D36F-A67F-C049-78BD-BB80296914AB}"/>
              </a:ext>
            </a:extLst>
          </p:cNvPr>
          <p:cNvSpPr txBox="1">
            <a:spLocks/>
          </p:cNvSpPr>
          <p:nvPr/>
        </p:nvSpPr>
        <p:spPr>
          <a:xfrm>
            <a:off x="753719" y="1039276"/>
            <a:ext cx="10695695" cy="7482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overall system integrating signal processing, optimization, and classification algorithms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DF572D-85D3-46BF-BFD5-38383A1A2F64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Slide Number Placeholder 21">
            <a:extLst>
              <a:ext uri="{FF2B5EF4-FFF2-40B4-BE49-F238E27FC236}">
                <a16:creationId xmlns:a16="http://schemas.microsoft.com/office/drawing/2014/main" id="{ECD6AAB7-CDE3-46BE-A50E-66F3989F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15</a:t>
            </a:r>
          </a:p>
        </p:txBody>
      </p:sp>
      <p:sp>
        <p:nvSpPr>
          <p:cNvPr id="67" name="Subtitle 2">
            <a:extLst>
              <a:ext uri="{FF2B5EF4-FFF2-40B4-BE49-F238E27FC236}">
                <a16:creationId xmlns:a16="http://schemas.microsoft.com/office/drawing/2014/main" id="{8F5BE4A8-F592-4EAC-97F4-DBF6528BA0A7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8322A7-FA25-4FB6-AC6C-4D7380486512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  <a:endParaRPr lang="en-US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3F53C4-3B89-4F9C-9218-D3E65425D2BB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EAD3E56-48A4-4A5F-80DE-E65DFB1A4439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75127A-4699-C6DF-65E5-0F10C2F29F6E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2</a:t>
            </a:r>
          </a:p>
        </p:txBody>
      </p:sp>
      <p:sp>
        <p:nvSpPr>
          <p:cNvPr id="4" name="Action Button: Blank 3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C0763D21-23F0-9126-56AC-95050997C1C7}"/>
              </a:ext>
            </a:extLst>
          </p:cNvPr>
          <p:cNvSpPr/>
          <p:nvPr/>
        </p:nvSpPr>
        <p:spPr>
          <a:xfrm>
            <a:off x="240481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51F256-F286-377D-3CB5-F4AFF19D9191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609" y="1797084"/>
            <a:ext cx="1126284" cy="1190552"/>
          </a:xfrm>
          <a:prstGeom prst="rect">
            <a:avLst/>
          </a:prstGeom>
        </p:spPr>
      </p:pic>
      <p:sp>
        <p:nvSpPr>
          <p:cNvPr id="32" name="Arrow: Bent 31">
            <a:extLst>
              <a:ext uri="{FF2B5EF4-FFF2-40B4-BE49-F238E27FC236}">
                <a16:creationId xmlns:a16="http://schemas.microsoft.com/office/drawing/2014/main" id="{B13CC62F-8B58-BC3A-A925-42C2CD55F733}"/>
              </a:ext>
            </a:extLst>
          </p:cNvPr>
          <p:cNvSpPr/>
          <p:nvPr/>
        </p:nvSpPr>
        <p:spPr>
          <a:xfrm flipV="1">
            <a:off x="2273300" y="2787077"/>
            <a:ext cx="5788688" cy="3314170"/>
          </a:xfrm>
          <a:prstGeom prst="bentArrow">
            <a:avLst>
              <a:gd name="adj1" fmla="val 10411"/>
              <a:gd name="adj2" fmla="val 10942"/>
              <a:gd name="adj3" fmla="val 16962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Arrow: Bent 32">
            <a:extLst>
              <a:ext uri="{FF2B5EF4-FFF2-40B4-BE49-F238E27FC236}">
                <a16:creationId xmlns:a16="http://schemas.microsoft.com/office/drawing/2014/main" id="{C80E0AB9-FA23-0D5B-8D2E-20CFCAD6A137}"/>
              </a:ext>
            </a:extLst>
          </p:cNvPr>
          <p:cNvSpPr/>
          <p:nvPr/>
        </p:nvSpPr>
        <p:spPr>
          <a:xfrm rot="10800000" flipH="1" flipV="1">
            <a:off x="4518660" y="3226362"/>
            <a:ext cx="4751012" cy="1123855"/>
          </a:xfrm>
          <a:prstGeom prst="bentArrow">
            <a:avLst>
              <a:gd name="adj1" fmla="val 32528"/>
              <a:gd name="adj2" fmla="val 29685"/>
              <a:gd name="adj3" fmla="val 29640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Arrow: Bent 33">
            <a:extLst>
              <a:ext uri="{FF2B5EF4-FFF2-40B4-BE49-F238E27FC236}">
                <a16:creationId xmlns:a16="http://schemas.microsoft.com/office/drawing/2014/main" id="{48EAC6E5-1464-37C1-F957-89BF03E98133}"/>
              </a:ext>
            </a:extLst>
          </p:cNvPr>
          <p:cNvSpPr/>
          <p:nvPr/>
        </p:nvSpPr>
        <p:spPr>
          <a:xfrm rot="10800000" flipH="1" flipV="1">
            <a:off x="6075774" y="3208813"/>
            <a:ext cx="3307868" cy="1173284"/>
          </a:xfrm>
          <a:prstGeom prst="bentArrow">
            <a:avLst>
              <a:gd name="adj1" fmla="val 23196"/>
              <a:gd name="adj2" fmla="val 22785"/>
              <a:gd name="adj3" fmla="val 29640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Bent 34">
            <a:extLst>
              <a:ext uri="{FF2B5EF4-FFF2-40B4-BE49-F238E27FC236}">
                <a16:creationId xmlns:a16="http://schemas.microsoft.com/office/drawing/2014/main" id="{C661DABD-8EBE-E31C-58DB-7214EC3C5BF7}"/>
              </a:ext>
            </a:extLst>
          </p:cNvPr>
          <p:cNvSpPr/>
          <p:nvPr/>
        </p:nvSpPr>
        <p:spPr>
          <a:xfrm rot="10800000" flipH="1">
            <a:off x="5655616" y="2724932"/>
            <a:ext cx="3728026" cy="1302162"/>
          </a:xfrm>
          <a:prstGeom prst="bentArrow">
            <a:avLst>
              <a:gd name="adj1" fmla="val 26194"/>
              <a:gd name="adj2" fmla="val 20046"/>
              <a:gd name="adj3" fmla="val 29640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Arrow: Bent 35">
            <a:extLst>
              <a:ext uri="{FF2B5EF4-FFF2-40B4-BE49-F238E27FC236}">
                <a16:creationId xmlns:a16="http://schemas.microsoft.com/office/drawing/2014/main" id="{A12EC6B6-222A-8A05-9927-B17F3AF51208}"/>
              </a:ext>
            </a:extLst>
          </p:cNvPr>
          <p:cNvSpPr/>
          <p:nvPr/>
        </p:nvSpPr>
        <p:spPr>
          <a:xfrm rot="10800000" flipH="1">
            <a:off x="7353299" y="2741409"/>
            <a:ext cx="2042959" cy="2419717"/>
          </a:xfrm>
          <a:prstGeom prst="bentArrow">
            <a:avLst>
              <a:gd name="adj1" fmla="val 17579"/>
              <a:gd name="adj2" fmla="val 14446"/>
              <a:gd name="adj3" fmla="val 22317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Bent 36">
            <a:extLst>
              <a:ext uri="{FF2B5EF4-FFF2-40B4-BE49-F238E27FC236}">
                <a16:creationId xmlns:a16="http://schemas.microsoft.com/office/drawing/2014/main" id="{3FDE5932-E6C4-157F-9768-462E81BD7F3C}"/>
              </a:ext>
            </a:extLst>
          </p:cNvPr>
          <p:cNvSpPr/>
          <p:nvPr/>
        </p:nvSpPr>
        <p:spPr>
          <a:xfrm>
            <a:off x="2994660" y="3004114"/>
            <a:ext cx="6439199" cy="1275956"/>
          </a:xfrm>
          <a:prstGeom prst="bentArrow">
            <a:avLst>
              <a:gd name="adj1" fmla="val 28009"/>
              <a:gd name="adj2" fmla="val 17905"/>
              <a:gd name="adj3" fmla="val 26246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DB94EA-55EF-3E29-55B4-BD044896507F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8368" y="5612420"/>
            <a:ext cx="4734003" cy="8880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900DEE-A052-A3E5-B778-105B3F83062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81039" y="4118140"/>
            <a:ext cx="4253610" cy="233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8C1C4D-01BD-B072-0C24-17EFC19B9180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210" y="4525073"/>
            <a:ext cx="4431201" cy="19749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3E72C0-B056-73E2-B0BB-25F487039E0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97961" y="2288680"/>
            <a:ext cx="3301483" cy="14929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F202994-26D1-888D-6EE1-F4C67219E0B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15303" y="3724566"/>
            <a:ext cx="3293175" cy="4035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F586D9-BBDF-6D5F-B1E3-EAD054604D2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75779" y="5926588"/>
            <a:ext cx="3289453" cy="4839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7B44E4-B6BD-9BC2-E71C-F39AE0962B8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76276" y="4728830"/>
            <a:ext cx="3303404" cy="1182502"/>
          </a:xfrm>
          <a:prstGeom prst="rect">
            <a:avLst/>
          </a:prstGeom>
        </p:spPr>
      </p:pic>
      <p:sp>
        <p:nvSpPr>
          <p:cNvPr id="18" name="Arrow: Bent 17">
            <a:extLst>
              <a:ext uri="{FF2B5EF4-FFF2-40B4-BE49-F238E27FC236}">
                <a16:creationId xmlns:a16="http://schemas.microsoft.com/office/drawing/2014/main" id="{6C56DE2F-BA82-AA1C-D40A-5C7D1A959B0E}"/>
              </a:ext>
            </a:extLst>
          </p:cNvPr>
          <p:cNvSpPr/>
          <p:nvPr/>
        </p:nvSpPr>
        <p:spPr>
          <a:xfrm rot="16200000" flipH="1" flipV="1">
            <a:off x="8985727" y="2951330"/>
            <a:ext cx="509264" cy="3045742"/>
          </a:xfrm>
          <a:prstGeom prst="bentArrow">
            <a:avLst>
              <a:gd name="adj1" fmla="val 33196"/>
              <a:gd name="adj2" fmla="val 32624"/>
              <a:gd name="adj3" fmla="val 34595"/>
              <a:gd name="adj4" fmla="val 2185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65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2" animBg="1"/>
      <p:bldP spid="17" grpId="0" animBg="1"/>
      <p:bldP spid="17" grpId="2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18" grpId="0" animBg="1"/>
      <p:bldP spid="1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A8D8890-8637-3ED3-7855-DA7C2E705C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89218" y="5021701"/>
            <a:ext cx="978252" cy="364788"/>
          </a:xfrm>
          <a:prstGeom prst="bentConnector3">
            <a:avLst>
              <a:gd name="adj1" fmla="val 100198"/>
            </a:avLst>
          </a:prstGeom>
          <a:ln w="762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43EEB65-B586-66C7-F8A5-D933931A111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73081" y="2127653"/>
            <a:ext cx="1010530" cy="364784"/>
          </a:xfrm>
          <a:prstGeom prst="bentConnector3">
            <a:avLst>
              <a:gd name="adj1" fmla="val 99433"/>
            </a:avLst>
          </a:prstGeom>
          <a:ln w="76200">
            <a:solidFill>
              <a:schemeClr val="accent1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 &gt; Research-Phases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32D47-C149-E335-2FEE-D956080C2B62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84C0E2-0BFB-6A59-EE3A-5829E03CB4E7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ACE14F-4BCE-2939-271E-D0E103580029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B0AD05-5404-24E1-DB17-C66DC146F2B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603A0A-3AC6-7A57-80BE-568445C75EE3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076BEE9-D985-5AA3-1362-257E64E5F7D0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011FBE-7677-947F-E42E-287271E3E072}"/>
              </a:ext>
            </a:extLst>
          </p:cNvPr>
          <p:cNvSpPr txBox="1">
            <a:spLocks/>
          </p:cNvSpPr>
          <p:nvPr/>
        </p:nvSpPr>
        <p:spPr>
          <a:xfrm>
            <a:off x="924582" y="2728323"/>
            <a:ext cx="2907359" cy="2015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algn="l"/>
            <a:endParaRPr lang="en-US" sz="2100" b="1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713" algn="l"/>
            <a:r>
              <a:rPr lang="en-US" sz="21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 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2018</a:t>
            </a:r>
          </a:p>
          <a:p>
            <a:pPr marL="112713" algn="l"/>
            <a:endParaRPr lang="en-US" sz="2100" b="1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713" algn="l"/>
            <a:r>
              <a:rPr lang="en-US" sz="21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: 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 2023 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9E04629-97F3-4478-4E0B-1AB7C70C0EB5}"/>
              </a:ext>
            </a:extLst>
          </p:cNvPr>
          <p:cNvSpPr/>
          <p:nvPr/>
        </p:nvSpPr>
        <p:spPr>
          <a:xfrm rot="16200000">
            <a:off x="-185037" y="3514096"/>
            <a:ext cx="2015595" cy="444043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endParaRPr lang="en-US" sz="2100" b="1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FCF0019-8D7A-30EB-9D39-88BE2294C810}"/>
              </a:ext>
            </a:extLst>
          </p:cNvPr>
          <p:cNvSpPr txBox="1">
            <a:spLocks/>
          </p:cNvSpPr>
          <p:nvPr/>
        </p:nvSpPr>
        <p:spPr>
          <a:xfrm>
            <a:off x="4169286" y="1299233"/>
            <a:ext cx="7508855" cy="48620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of the state-of-the-art (Phase 1 : six months) ;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design (Phase 2 : one month);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design (Phase 3 : two months);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and purchase of basic electronic components (Phase 4 : two months);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the first prototype (Phase 5 : one month);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and validation (Phase 6 : two weeks);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the second improved prototype (Phase 7 : two months);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sharing results in communications (Phase 8 : three months);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novel advanced solutions for real-time applications (Phase 9 : six months);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 and publication of high-quality papers (continuously until the end of my PhD degree);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noProof="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1600" noProof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714D8A7-B8E2-251C-2B29-9747AD25F972}"/>
              </a:ext>
            </a:extLst>
          </p:cNvPr>
          <p:cNvSpPr/>
          <p:nvPr/>
        </p:nvSpPr>
        <p:spPr>
          <a:xfrm>
            <a:off x="4169286" y="1034921"/>
            <a:ext cx="7508855" cy="444043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BF4FA0-3680-4C33-B18D-9DC1F3300C67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21">
            <a:extLst>
              <a:ext uri="{FF2B5EF4-FFF2-40B4-BE49-F238E27FC236}">
                <a16:creationId xmlns:a16="http://schemas.microsoft.com/office/drawing/2014/main" id="{DE40F5B3-DD75-4D64-9AA3-0D8B1984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1CA25A16-1ECC-4717-A2B5-77FD04A1CE39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997221-CBB4-48D5-91AA-E3EA11B73AAA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C5C4CC-3479-46B8-BB88-F5071B3E9BB6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720D04E5-7B66-4060-A7E4-286A15975797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7529BFD-5E16-8034-8067-D42E1D585DB2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2</a:t>
            </a:r>
          </a:p>
        </p:txBody>
      </p:sp>
      <p:sp>
        <p:nvSpPr>
          <p:cNvPr id="7" name="Action Button: Blank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5B189E5-7D35-1B82-9634-6C51A122800A}"/>
              </a:ext>
            </a:extLst>
          </p:cNvPr>
          <p:cNvSpPr/>
          <p:nvPr/>
        </p:nvSpPr>
        <p:spPr>
          <a:xfrm>
            <a:off x="240481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495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64B2D7-5356-E3F1-00C9-ACD3DA38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390" y="910009"/>
            <a:ext cx="4205362" cy="548800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2FDC0F-617A-AFBC-4598-836895F2D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390" y="910010"/>
            <a:ext cx="4207074" cy="548800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E1DBE4-3961-531E-95DF-8AEB266B2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390" y="918227"/>
            <a:ext cx="4205362" cy="547156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684C0E2-0BFB-6A59-EE3A-5829E03CB4E7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ACE14F-4BCE-2939-271E-D0E103580029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B0AD05-5404-24E1-DB17-C66DC146F2B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603A0A-3AC6-7A57-80BE-568445C75EE3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076BEE9-D985-5AA3-1362-257E64E5F7D0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011FBE-7677-947F-E42E-287271E3E072}"/>
              </a:ext>
            </a:extLst>
          </p:cNvPr>
          <p:cNvSpPr txBox="1">
            <a:spLocks/>
          </p:cNvSpPr>
          <p:nvPr/>
        </p:nvSpPr>
        <p:spPr>
          <a:xfrm>
            <a:off x="759070" y="1159486"/>
            <a:ext cx="4713883" cy="46617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1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expertise in the following areas 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multi-input acquisition devices;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Biomedical signal processing;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intelligence;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</a:t>
            </a:r>
            <a:r>
              <a:rPr lang="en-US" sz="2000" noProof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algorithlms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systems; </a:t>
            </a:r>
          </a:p>
          <a:p>
            <a:pPr algn="l"/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sz="20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9E04629-97F3-4478-4E0B-1AB7C70C0EB5}"/>
              </a:ext>
            </a:extLst>
          </p:cNvPr>
          <p:cNvSpPr/>
          <p:nvPr/>
        </p:nvSpPr>
        <p:spPr>
          <a:xfrm>
            <a:off x="753717" y="1027901"/>
            <a:ext cx="4719236" cy="444043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Expertise: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DB8E710-7B8E-7ECC-673C-3F8A12BC59FE}"/>
              </a:ext>
            </a:extLst>
          </p:cNvPr>
          <p:cNvSpPr txBox="1">
            <a:spLocks/>
          </p:cNvSpPr>
          <p:nvPr/>
        </p:nvSpPr>
        <p:spPr>
          <a:xfrm>
            <a:off x="753718" y="309054"/>
            <a:ext cx="11438282" cy="45582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Record &gt; </a:t>
            </a:r>
            <a:r>
              <a:rPr lang="en-US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Expertises</a:t>
            </a:r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Acquired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B5E61C-A973-C4FF-A67F-FBF8221C9AC8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1B2C72-C788-0D01-1775-E3C015537086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2</a:t>
            </a:r>
          </a:p>
        </p:txBody>
      </p:sp>
      <p:sp>
        <p:nvSpPr>
          <p:cNvPr id="19" name="Action Button: Blank 1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C67C099-E33F-AAC3-C60B-839FEF30221A}"/>
              </a:ext>
            </a:extLst>
          </p:cNvPr>
          <p:cNvSpPr/>
          <p:nvPr/>
        </p:nvSpPr>
        <p:spPr>
          <a:xfrm>
            <a:off x="228443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F60992-AC7E-454A-9359-021D0580446E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lide Number Placeholder 21">
            <a:extLst>
              <a:ext uri="{FF2B5EF4-FFF2-40B4-BE49-F238E27FC236}">
                <a16:creationId xmlns:a16="http://schemas.microsoft.com/office/drawing/2014/main" id="{51BD7A18-BC7B-4DB7-8E55-270F8EE6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341" y="6492876"/>
            <a:ext cx="1240659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26DAF0B-8546-4171-A7A7-7D39A13C963B}"/>
              </a:ext>
            </a:extLst>
          </p:cNvPr>
          <p:cNvSpPr txBox="1">
            <a:spLocks/>
          </p:cNvSpPr>
          <p:nvPr/>
        </p:nvSpPr>
        <p:spPr>
          <a:xfrm>
            <a:off x="9154886" y="6544886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9697E2-F45C-4034-8B31-E1DDF5DB361D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08B2C0-4B96-4758-A63A-11B96B85503B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38A96239-A262-4534-8885-DD39D202EACF}"/>
              </a:ext>
            </a:extLst>
          </p:cNvPr>
          <p:cNvSpPr txBox="1">
            <a:spLocks/>
          </p:cNvSpPr>
          <p:nvPr/>
        </p:nvSpPr>
        <p:spPr>
          <a:xfrm>
            <a:off x="11046941" y="6505861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16959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C67B6-2279-C2D0-A32C-F28281A15FCE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DAAD10-59BE-B595-8C2D-B95CEB5B05E0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FA451-4F35-3A99-64CC-88F8C9183B06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28552-CC50-BAD6-5D29-367AE2AFEB8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Action Button: Blank 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9C48D1F-B044-B2C4-F096-436EE89F34C2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ction Button: Blank 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3B6D24-B28F-863A-38E0-C7E2D729E0B1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A3893C-2EAC-48C6-9204-08F432881F92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Slide Number Placeholder 21">
            <a:extLst>
              <a:ext uri="{FF2B5EF4-FFF2-40B4-BE49-F238E27FC236}">
                <a16:creationId xmlns:a16="http://schemas.microsoft.com/office/drawing/2014/main" id="{33551992-178E-4164-898C-79BC171F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D53C0A0F-E614-4A3A-899A-D5349BA92D96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31D7E6-BF50-4C8F-8610-DC20D3BA2978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67AC3D-9214-4CA0-A2B7-D18838F32AC8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51B47E00-EAF0-4836-BD49-2CD69C17623E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5B7D136-7780-819F-B4BE-5DB197C6EBB0}"/>
              </a:ext>
            </a:extLst>
          </p:cNvPr>
          <p:cNvSpPr txBox="1">
            <a:spLocks/>
          </p:cNvSpPr>
          <p:nvPr/>
        </p:nvSpPr>
        <p:spPr>
          <a:xfrm>
            <a:off x="2547708" y="1943697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D59B1B-B374-189A-D02D-6B6E957BC4BD}"/>
              </a:ext>
            </a:extLst>
          </p:cNvPr>
          <p:cNvSpPr/>
          <p:nvPr/>
        </p:nvSpPr>
        <p:spPr>
          <a:xfrm>
            <a:off x="1785944" y="190326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90AF26-93A1-7D67-2CB6-199C430AAC0F}"/>
              </a:ext>
            </a:extLst>
          </p:cNvPr>
          <p:cNvSpPr/>
          <p:nvPr/>
        </p:nvSpPr>
        <p:spPr>
          <a:xfrm>
            <a:off x="1785944" y="273300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649BF0-82C6-234F-E992-E237649642AD}"/>
              </a:ext>
            </a:extLst>
          </p:cNvPr>
          <p:cNvSpPr/>
          <p:nvPr/>
        </p:nvSpPr>
        <p:spPr>
          <a:xfrm>
            <a:off x="1778745" y="3648565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C7706D-DC6E-ABF7-7D8B-83FAAA123BAB}"/>
              </a:ext>
            </a:extLst>
          </p:cNvPr>
          <p:cNvSpPr/>
          <p:nvPr/>
        </p:nvSpPr>
        <p:spPr>
          <a:xfrm>
            <a:off x="1778745" y="4498911"/>
            <a:ext cx="476775" cy="4558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Action Button: Blank 1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44A43B0-F2BE-9BDC-B700-966C8ECDB23A}"/>
              </a:ext>
            </a:extLst>
          </p:cNvPr>
          <p:cNvSpPr/>
          <p:nvPr/>
        </p:nvSpPr>
        <p:spPr>
          <a:xfrm>
            <a:off x="1870452" y="198932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Action Button: Blank 1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ED56891-4F54-B028-A97C-52A01855AF11}"/>
              </a:ext>
            </a:extLst>
          </p:cNvPr>
          <p:cNvSpPr/>
          <p:nvPr/>
        </p:nvSpPr>
        <p:spPr>
          <a:xfrm>
            <a:off x="1870452" y="279373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Action Button: Blank 2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809918E-BDFC-E346-456D-BF9A6879EDA4}"/>
              </a:ext>
            </a:extLst>
          </p:cNvPr>
          <p:cNvSpPr/>
          <p:nvPr/>
        </p:nvSpPr>
        <p:spPr>
          <a:xfrm>
            <a:off x="1870452" y="3717791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Action Button: Blank 2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DD6E247-A7B3-2891-986F-F9FC7F147287}"/>
              </a:ext>
            </a:extLst>
          </p:cNvPr>
          <p:cNvSpPr/>
          <p:nvPr/>
        </p:nvSpPr>
        <p:spPr>
          <a:xfrm>
            <a:off x="1870452" y="4593147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F98984C7-E5EA-80D7-4667-F57D10CA7214}"/>
              </a:ext>
            </a:extLst>
          </p:cNvPr>
          <p:cNvSpPr txBox="1">
            <a:spLocks/>
          </p:cNvSpPr>
          <p:nvPr/>
        </p:nvSpPr>
        <p:spPr>
          <a:xfrm>
            <a:off x="2547708" y="2773438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PhD Record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78107CD7-0C15-1BF8-07F0-3DB3FC049F8E}"/>
              </a:ext>
            </a:extLst>
          </p:cNvPr>
          <p:cNvSpPr txBox="1">
            <a:spLocks/>
          </p:cNvSpPr>
          <p:nvPr/>
        </p:nvSpPr>
        <p:spPr>
          <a:xfrm>
            <a:off x="2547708" y="3700724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Professional Project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B154C821-E260-05EB-7577-75425D395ACA}"/>
              </a:ext>
            </a:extLst>
          </p:cNvPr>
          <p:cNvSpPr txBox="1">
            <a:spLocks/>
          </p:cNvSpPr>
          <p:nvPr/>
        </p:nvSpPr>
        <p:spPr>
          <a:xfrm>
            <a:off x="2547708" y="4552572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0650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544D-ABF7-A9D3-8264-70A22E83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3029E109-FE54-608E-6D3F-8C16E061D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06" y="1348209"/>
            <a:ext cx="3078422" cy="51115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0D5E1E4-D8DE-31B4-9C09-4A8AB6C7F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904" y="1318727"/>
            <a:ext cx="3078422" cy="5148318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9D7A6D5-4895-7B5E-2D1D-DC145B71F2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990" y="1322268"/>
            <a:ext cx="3055624" cy="512829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07D31AF2-F809-2F27-CFF5-709983E812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793" y="1327147"/>
            <a:ext cx="3089533" cy="51115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342E4E9-A47C-C1F3-0371-CCDA1A5924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201" y="1354748"/>
            <a:ext cx="3090221" cy="514294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90B74A6-1DFD-2F32-2ED4-226C3DC38E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4037" y="1329620"/>
            <a:ext cx="3081027" cy="51115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141C494-62C2-0951-B94A-8D2D26ED54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010" y="1309889"/>
            <a:ext cx="3084321" cy="511151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7CBEFAB-E1B2-1A60-1382-5D2E897AC9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871" y="1345688"/>
            <a:ext cx="3084320" cy="511151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897D3B-F4FB-8579-6B22-35E1C17D41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8021" y="1349094"/>
            <a:ext cx="3071882" cy="511545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698189D-49DB-26FE-5A73-B5EFBEFAAF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905" y="1311758"/>
            <a:ext cx="3142758" cy="519388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4669E4C-A8BF-5206-A5E9-20120D76D3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38"/>
          <a:stretch/>
        </p:blipFill>
        <p:spPr>
          <a:xfrm>
            <a:off x="6331123" y="2759098"/>
            <a:ext cx="4674645" cy="3650118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sp>
        <p:nvSpPr>
          <p:cNvPr id="45" name="Subtitle 2">
            <a:extLst>
              <a:ext uri="{FF2B5EF4-FFF2-40B4-BE49-F238E27FC236}">
                <a16:creationId xmlns:a16="http://schemas.microsoft.com/office/drawing/2014/main" id="{96E88898-0D82-563B-CE5F-6FC0DB077D8C}"/>
              </a:ext>
            </a:extLst>
          </p:cNvPr>
          <p:cNvSpPr txBox="1">
            <a:spLocks/>
          </p:cNvSpPr>
          <p:nvPr/>
        </p:nvSpPr>
        <p:spPr>
          <a:xfrm>
            <a:off x="753718" y="309054"/>
            <a:ext cx="11438282" cy="45582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Projet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8C704E-CF52-1B7D-69ED-FC88F145FD89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F7CD105-36C2-4E77-F0D2-6B75AB619467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3</a:t>
            </a:r>
          </a:p>
        </p:txBody>
      </p:sp>
      <p:sp>
        <p:nvSpPr>
          <p:cNvPr id="48" name="Action Button: Blank 47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4DEA37A1-1D58-9D5F-DBAF-B1D4D75A7512}"/>
              </a:ext>
            </a:extLst>
          </p:cNvPr>
          <p:cNvSpPr/>
          <p:nvPr/>
        </p:nvSpPr>
        <p:spPr>
          <a:xfrm>
            <a:off x="228443" y="38578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7F5C25-2387-63BB-215E-7FC23012DBE4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02A45B-3F5E-2514-FFD6-CCE1CFF185ED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17CAEF-69B0-E051-9142-4F1DEFF566F2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Action Button: Blank 5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E527F30-F860-6531-6442-B4D811BCF8EE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Action Button: Blank 5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692D86C-D090-9441-E258-17718F3818C9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5D0879-DB1C-96BB-0AC3-0170A736DAF2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Slide Number Placeholder 21">
            <a:extLst>
              <a:ext uri="{FF2B5EF4-FFF2-40B4-BE49-F238E27FC236}">
                <a16:creationId xmlns:a16="http://schemas.microsoft.com/office/drawing/2014/main" id="{34A42BE3-4C39-9473-34BF-735DF58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CAFDA64F-2166-484E-B68A-9E72A651E257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7921AA-747B-27B2-5C93-819F7E9C1321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583E11-5443-F5EB-D264-8C012DD0FCC1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59" name="Subtitle 2">
            <a:extLst>
              <a:ext uri="{FF2B5EF4-FFF2-40B4-BE49-F238E27FC236}">
                <a16:creationId xmlns:a16="http://schemas.microsoft.com/office/drawing/2014/main" id="{E3651C5E-FB88-BA03-C873-96C14D588C18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DAB1829C-AF49-0F43-063E-5E394062A070}"/>
              </a:ext>
            </a:extLst>
          </p:cNvPr>
          <p:cNvSpPr txBox="1">
            <a:spLocks/>
          </p:cNvSpPr>
          <p:nvPr/>
        </p:nvSpPr>
        <p:spPr>
          <a:xfrm>
            <a:off x="753715" y="811361"/>
            <a:ext cx="10631461" cy="455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smart application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YanSOQ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using cutting-edge technologies and artificial intelligence</a:t>
            </a:r>
            <a:endParaRPr lang="en-US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4EC582B-0D03-DC80-A48B-4E37124AFE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6052" y="2639973"/>
            <a:ext cx="5433418" cy="373934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sp>
        <p:nvSpPr>
          <p:cNvPr id="60" name="Subtitle 2">
            <a:extLst>
              <a:ext uri="{FF2B5EF4-FFF2-40B4-BE49-F238E27FC236}">
                <a16:creationId xmlns:a16="http://schemas.microsoft.com/office/drawing/2014/main" id="{2BECE664-3EE6-5E50-F1AB-249918FB4429}"/>
              </a:ext>
            </a:extLst>
          </p:cNvPr>
          <p:cNvSpPr txBox="1">
            <a:spLocks/>
          </p:cNvSpPr>
          <p:nvPr/>
        </p:nvSpPr>
        <p:spPr>
          <a:xfrm>
            <a:off x="765649" y="1540702"/>
            <a:ext cx="5737432" cy="4734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1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 Provided in the Following Areas</a:t>
            </a:r>
            <a:r>
              <a:rPr lang="en-US" sz="22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cross-platform applications using Python for Android, Linux, and Windows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Establishment of TCP socket connections for data transmission, including text, files, and VoIP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data storage, processing, and management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tracking and Online SSH communication between networked devices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geolocation features such as distance, area, and trace-routing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integration of online APIs and backend servers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facial/object recognition models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speech-to-text, text-to-speech technologies, and AI-based chatbots (text and voice)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traffic systems involving vehicles and aircraft;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3D objects into geographic maps</a:t>
            </a:r>
            <a:r>
              <a:rPr lang="en-US" sz="21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6C550663-6583-15AC-0C00-CB61907D23FF}"/>
              </a:ext>
            </a:extLst>
          </p:cNvPr>
          <p:cNvSpPr/>
          <p:nvPr/>
        </p:nvSpPr>
        <p:spPr>
          <a:xfrm>
            <a:off x="753717" y="1348209"/>
            <a:ext cx="5749364" cy="444043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Expertise:</a:t>
            </a:r>
          </a:p>
        </p:txBody>
      </p:sp>
    </p:spTree>
    <p:extLst>
      <p:ext uri="{BB962C8B-B14F-4D97-AF65-F5344CB8AC3E}">
        <p14:creationId xmlns:p14="http://schemas.microsoft.com/office/powerpoint/2010/main" val="339289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C67B6-2279-C2D0-A32C-F28281A15FCE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DAAD10-59BE-B595-8C2D-B95CEB5B05E0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FA451-4F35-3A99-64CC-88F8C9183B06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28552-CC50-BAD6-5D29-367AE2AFEB83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Action Button: Blank 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9C48D1F-B044-B2C4-F096-436EE89F34C2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ction Button: Blank 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3B6D24-B28F-863A-38E0-C7E2D729E0B1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EF81C6-4067-42A5-8687-B1C52EF8C467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Slide Number Placeholder 21">
            <a:extLst>
              <a:ext uri="{FF2B5EF4-FFF2-40B4-BE49-F238E27FC236}">
                <a16:creationId xmlns:a16="http://schemas.microsoft.com/office/drawing/2014/main" id="{7237B7CF-FAC7-411B-8B28-7B6C2495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94BCB1C0-ACB4-4849-BAD1-CB27E7A39D80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DCBF86-640F-45EB-B9A0-7638EC880F96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450A2E-9F87-4B61-936A-FCFFBA43A99B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A3A4D25E-FB5E-4109-B7B3-7DBA7A19471B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7C69889-DFF8-F299-D942-6C511729C011}"/>
              </a:ext>
            </a:extLst>
          </p:cNvPr>
          <p:cNvSpPr txBox="1">
            <a:spLocks/>
          </p:cNvSpPr>
          <p:nvPr/>
        </p:nvSpPr>
        <p:spPr>
          <a:xfrm>
            <a:off x="2547708" y="1943697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2FAACB-48DB-CA4A-4327-B65252DC3CEB}"/>
              </a:ext>
            </a:extLst>
          </p:cNvPr>
          <p:cNvSpPr/>
          <p:nvPr/>
        </p:nvSpPr>
        <p:spPr>
          <a:xfrm>
            <a:off x="1785944" y="190326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8AF11D-D931-D5A7-3C5D-AF0C4200D507}"/>
              </a:ext>
            </a:extLst>
          </p:cNvPr>
          <p:cNvSpPr/>
          <p:nvPr/>
        </p:nvSpPr>
        <p:spPr>
          <a:xfrm>
            <a:off x="1785944" y="2733002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226097-AD9A-8F0F-7602-B66D2106BC6D}"/>
              </a:ext>
            </a:extLst>
          </p:cNvPr>
          <p:cNvSpPr/>
          <p:nvPr/>
        </p:nvSpPr>
        <p:spPr>
          <a:xfrm>
            <a:off x="1778745" y="3648565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05D47A-07C1-9172-5BAE-55155B2C3B0F}"/>
              </a:ext>
            </a:extLst>
          </p:cNvPr>
          <p:cNvSpPr/>
          <p:nvPr/>
        </p:nvSpPr>
        <p:spPr>
          <a:xfrm>
            <a:off x="1778745" y="4498911"/>
            <a:ext cx="476775" cy="455828"/>
          </a:xfrm>
          <a:prstGeom prst="ellipse">
            <a:avLst/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4</a:t>
            </a:r>
          </a:p>
        </p:txBody>
      </p:sp>
      <p:sp>
        <p:nvSpPr>
          <p:cNvPr id="19" name="Action Button: Blank 1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B7D5D5E-45A4-EFE3-B603-2ACB73BE01B3}"/>
              </a:ext>
            </a:extLst>
          </p:cNvPr>
          <p:cNvSpPr/>
          <p:nvPr/>
        </p:nvSpPr>
        <p:spPr>
          <a:xfrm>
            <a:off x="1870452" y="198932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Action Button: Blank 1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C65C5A3-D32C-71B4-C067-211AD078E43D}"/>
              </a:ext>
            </a:extLst>
          </p:cNvPr>
          <p:cNvSpPr/>
          <p:nvPr/>
        </p:nvSpPr>
        <p:spPr>
          <a:xfrm>
            <a:off x="1870452" y="2793736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Action Button: Blank 2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D82FB49-3EE6-8A10-22EE-2C07CE585176}"/>
              </a:ext>
            </a:extLst>
          </p:cNvPr>
          <p:cNvSpPr/>
          <p:nvPr/>
        </p:nvSpPr>
        <p:spPr>
          <a:xfrm>
            <a:off x="1870452" y="3717791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Action Button: Blank 2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5E0FF2D0-96A8-E1CC-02E1-EFD0606C844D}"/>
              </a:ext>
            </a:extLst>
          </p:cNvPr>
          <p:cNvSpPr/>
          <p:nvPr/>
        </p:nvSpPr>
        <p:spPr>
          <a:xfrm>
            <a:off x="1870452" y="4593147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1BA3CD5-5A00-8EFF-658C-113D36CC3989}"/>
              </a:ext>
            </a:extLst>
          </p:cNvPr>
          <p:cNvSpPr txBox="1">
            <a:spLocks/>
          </p:cNvSpPr>
          <p:nvPr/>
        </p:nvSpPr>
        <p:spPr>
          <a:xfrm>
            <a:off x="2547708" y="2773438"/>
            <a:ext cx="2646256" cy="37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PhD Record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F9E11EF-B45D-2A4B-5B14-86343A1BD526}"/>
              </a:ext>
            </a:extLst>
          </p:cNvPr>
          <p:cNvSpPr txBox="1">
            <a:spLocks/>
          </p:cNvSpPr>
          <p:nvPr/>
        </p:nvSpPr>
        <p:spPr>
          <a:xfrm>
            <a:off x="2547708" y="3700724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Professional Project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8522A48-842B-DFC4-B4C6-46F2EFFD7DCB}"/>
              </a:ext>
            </a:extLst>
          </p:cNvPr>
          <p:cNvSpPr txBox="1">
            <a:spLocks/>
          </p:cNvSpPr>
          <p:nvPr/>
        </p:nvSpPr>
        <p:spPr>
          <a:xfrm>
            <a:off x="2547708" y="4552572"/>
            <a:ext cx="2646256" cy="35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2425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sz="2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" noProof="0" dirty="0">
              <a:solidFill>
                <a:schemeClr val="bg1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74EBCCA-A839-0730-B8B5-33036C767936}"/>
              </a:ext>
            </a:extLst>
          </p:cNvPr>
          <p:cNvSpPr txBox="1">
            <a:spLocks/>
          </p:cNvSpPr>
          <p:nvPr/>
        </p:nvSpPr>
        <p:spPr>
          <a:xfrm>
            <a:off x="753717" y="1099033"/>
            <a:ext cx="10515645" cy="3398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8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scientific contributions across all projects include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real-time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multi-sensor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 system;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implemented a real-time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algorithms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cross-platform applications for Android, Linux, Windows, and browsers;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expertise in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geolocation-based applications;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with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content creation, including text, images, and audio</a:t>
            </a:r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50AAC65-A1AC-4862-BD72-BE9BA7B1E5D5}"/>
              </a:ext>
            </a:extLst>
          </p:cNvPr>
          <p:cNvSpPr/>
          <p:nvPr/>
        </p:nvSpPr>
        <p:spPr>
          <a:xfrm>
            <a:off x="753717" y="1012863"/>
            <a:ext cx="10515645" cy="455829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: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136CF5-C256-82CC-6994-28F311495B51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1EFD63F-039C-204A-5C3C-144E1BA43B5F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4</a:t>
            </a:r>
          </a:p>
        </p:txBody>
      </p:sp>
      <p:sp>
        <p:nvSpPr>
          <p:cNvPr id="18" name="Action Button: Blank 1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9857C65-B368-0A46-0CFE-8B042BD5D301}"/>
              </a:ext>
            </a:extLst>
          </p:cNvPr>
          <p:cNvSpPr/>
          <p:nvPr/>
        </p:nvSpPr>
        <p:spPr>
          <a:xfrm>
            <a:off x="214215" y="395118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E9A31E-F998-F1A9-955A-9EF8F89510D6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D91E91-4BF2-069B-9AB6-6D258A6063CC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57FDC7-3420-D2CA-6438-1B3C2CAD32AC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ction Button: Blank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AE83F04-6381-8F1C-AA8E-90E99EFF42E9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ction Button: Blank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F292CDD-09C7-1672-0279-A42279C4BCB2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6A70D2-9EEF-48BE-B4F9-A96AB081B6C4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Slide Number Placeholder 21">
            <a:extLst>
              <a:ext uri="{FF2B5EF4-FFF2-40B4-BE49-F238E27FC236}">
                <a16:creationId xmlns:a16="http://schemas.microsoft.com/office/drawing/2014/main" id="{79F6DD8F-EE38-4919-9145-2521987C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3A58A7DC-607D-4D45-9B10-1BBEE133CB88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12E871-A8B4-4C71-A661-748550AD8503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7C7FDF-8279-4F29-B419-FA0A30F23EC9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C5133AF7-22F7-4C49-AA7E-924797B20E8F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D905782-37E1-9679-2763-257C62B72810}"/>
              </a:ext>
            </a:extLst>
          </p:cNvPr>
          <p:cNvSpPr txBox="1">
            <a:spLocks/>
          </p:cNvSpPr>
          <p:nvPr/>
        </p:nvSpPr>
        <p:spPr>
          <a:xfrm>
            <a:off x="745164" y="4922545"/>
            <a:ext cx="10515645" cy="1278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with : </a:t>
            </a:r>
            <a:r>
              <a:rPr lang="en-US" sz="22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cortex, motor imagery, eye states, sleep stages, and Alcohol use disorder.</a:t>
            </a:r>
          </a:p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noProof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rospects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Parkinson’s, depression, schizophrenia,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Alzheimer’s;</a:t>
            </a:r>
            <a:r>
              <a:rPr lang="en-US" sz="22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fMRI, </a:t>
            </a:r>
            <a:r>
              <a:rPr lang="en-US" sz="2200" noProof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fNIRS</a:t>
            </a:r>
            <a:r>
              <a:rPr lang="en-US" sz="2200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MEG, etc.</a:t>
            </a:r>
            <a:endParaRPr lang="en-US" noProof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90B672A-96D5-5973-C4C0-0EF2880DB5A9}"/>
              </a:ext>
            </a:extLst>
          </p:cNvPr>
          <p:cNvSpPr/>
          <p:nvPr/>
        </p:nvSpPr>
        <p:spPr>
          <a:xfrm>
            <a:off x="745164" y="4794473"/>
            <a:ext cx="10515645" cy="455829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Applications :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92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718" y="309054"/>
            <a:ext cx="11438282" cy="455828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Perspectives</a:t>
            </a:r>
            <a:endParaRPr lang="en-US" sz="300" noProof="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3CE53A-6DB3-DB31-3560-E26C2096FE5A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777EA5-4494-9061-48D1-7DFB6D9F287C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C06EFC-65AA-5280-7E6F-2B4179496017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Action Button: Blank 3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E8411E2-B094-7E00-89D6-9489F1ABF21A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ction Button: Blank 3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A99DE4D-871A-A3DD-837F-FB6EDFE3A082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A0C6D-D472-2DBE-98A6-828ACF31E6BA}"/>
              </a:ext>
            </a:extLst>
          </p:cNvPr>
          <p:cNvSpPr/>
          <p:nvPr/>
        </p:nvSpPr>
        <p:spPr>
          <a:xfrm>
            <a:off x="-3471" y="309054"/>
            <a:ext cx="757188" cy="455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21CF6D-442C-D486-DC8C-6DDAECAF52A6}"/>
              </a:ext>
            </a:extLst>
          </p:cNvPr>
          <p:cNvSpPr/>
          <p:nvPr/>
        </p:nvSpPr>
        <p:spPr>
          <a:xfrm>
            <a:off x="191709" y="340362"/>
            <a:ext cx="366828" cy="37455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/>
              <a:t>4</a:t>
            </a:r>
          </a:p>
        </p:txBody>
      </p:sp>
      <p:sp>
        <p:nvSpPr>
          <p:cNvPr id="15" name="Action Button: Blank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86E680C-C958-70B0-97BE-103A33B191BD}"/>
              </a:ext>
            </a:extLst>
          </p:cNvPr>
          <p:cNvSpPr/>
          <p:nvPr/>
        </p:nvSpPr>
        <p:spPr>
          <a:xfrm>
            <a:off x="228443" y="411944"/>
            <a:ext cx="293360" cy="283699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3B058-CF91-389A-760F-D5590B4B933E}"/>
              </a:ext>
            </a:extLst>
          </p:cNvPr>
          <p:cNvSpPr/>
          <p:nvPr/>
        </p:nvSpPr>
        <p:spPr>
          <a:xfrm>
            <a:off x="8391154" y="5035491"/>
            <a:ext cx="2021799" cy="1114099"/>
          </a:xfrm>
          <a:prstGeom prst="ellipse">
            <a:avLst/>
          </a:prstGeom>
          <a:solidFill>
            <a:srgbClr val="B4C7E7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solidFill>
                  <a:schemeClr val="accent1">
                    <a:lumMod val="50000"/>
                  </a:schemeClr>
                </a:solidFill>
              </a:rPr>
              <a:t>Signal Processing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D338FE3-438D-C85E-1D76-70F4FDEB5A5A}"/>
              </a:ext>
            </a:extLst>
          </p:cNvPr>
          <p:cNvSpPr/>
          <p:nvPr/>
        </p:nvSpPr>
        <p:spPr>
          <a:xfrm>
            <a:off x="3878963" y="989256"/>
            <a:ext cx="5849104" cy="510988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noProof="0" dirty="0">
                <a:solidFill>
                  <a:schemeClr val="accent2">
                    <a:lumMod val="50000"/>
                  </a:schemeClr>
                </a:solidFill>
              </a:rPr>
              <a:t>System    Engineering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6AF6F8-DDE8-FB8F-D04E-21F2CC025613}"/>
              </a:ext>
            </a:extLst>
          </p:cNvPr>
          <p:cNvSpPr/>
          <p:nvPr/>
        </p:nvSpPr>
        <p:spPr>
          <a:xfrm>
            <a:off x="1841181" y="2228406"/>
            <a:ext cx="2274374" cy="2498157"/>
          </a:xfrm>
          <a:prstGeom prst="ellipse">
            <a:avLst/>
          </a:prstGeom>
          <a:solidFill>
            <a:schemeClr val="accent6">
              <a:lumMod val="60000"/>
              <a:lumOff val="40000"/>
              <a:alpha val="76078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solidFill>
                  <a:schemeClr val="accent6">
                    <a:lumMod val="50000"/>
                  </a:schemeClr>
                </a:solidFill>
              </a:rPr>
              <a:t>Artificial Intelligence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B957F3-5A11-4683-2B76-86BDDA7D8900}"/>
              </a:ext>
            </a:extLst>
          </p:cNvPr>
          <p:cNvSpPr/>
          <p:nvPr/>
        </p:nvSpPr>
        <p:spPr>
          <a:xfrm>
            <a:off x="2832740" y="1370669"/>
            <a:ext cx="7691717" cy="1390045"/>
          </a:xfrm>
          <a:prstGeom prst="ellipse">
            <a:avLst/>
          </a:prstGeom>
          <a:solidFill>
            <a:srgbClr val="F94D4D">
              <a:alpha val="81176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solidFill>
                  <a:schemeClr val="accent1">
                    <a:lumMod val="50000"/>
                  </a:schemeClr>
                </a:solidFill>
              </a:rPr>
              <a:t>Biomedical Embedded Systems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D2798BD9-9B97-AEB3-35C6-55B8D9ACC14B}"/>
              </a:ext>
            </a:extLst>
          </p:cNvPr>
          <p:cNvSpPr/>
          <p:nvPr/>
        </p:nvSpPr>
        <p:spPr>
          <a:xfrm rot="16200000">
            <a:off x="3201181" y="3338240"/>
            <a:ext cx="1761940" cy="1108754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4341231A-81E4-7CD8-D906-13F01E0C8670}"/>
              </a:ext>
            </a:extLst>
          </p:cNvPr>
          <p:cNvSpPr/>
          <p:nvPr/>
        </p:nvSpPr>
        <p:spPr>
          <a:xfrm rot="16200000">
            <a:off x="8001362" y="3538160"/>
            <a:ext cx="2116498" cy="1108754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22128-2BE2-7228-66FC-4EEEB5B8C170}"/>
              </a:ext>
            </a:extLst>
          </p:cNvPr>
          <p:cNvSpPr txBox="1"/>
          <p:nvPr/>
        </p:nvSpPr>
        <p:spPr>
          <a:xfrm>
            <a:off x="3413694" y="3644617"/>
            <a:ext cx="1336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noProof="0" dirty="0">
                <a:solidFill>
                  <a:schemeClr val="bg2">
                    <a:lumMod val="25000"/>
                  </a:schemeClr>
                </a:solidFill>
              </a:rPr>
              <a:t>Computer Control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868487-5775-50C9-6C1F-B0DF8263050C}"/>
              </a:ext>
            </a:extLst>
          </p:cNvPr>
          <p:cNvSpPr txBox="1"/>
          <p:nvPr/>
        </p:nvSpPr>
        <p:spPr>
          <a:xfrm>
            <a:off x="8391154" y="3921616"/>
            <a:ext cx="1336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noProof="0" dirty="0">
                <a:solidFill>
                  <a:schemeClr val="bg2">
                    <a:lumMod val="25000"/>
                  </a:schemeClr>
                </a:solidFill>
              </a:rPr>
              <a:t>Digital Diagnosis</a:t>
            </a: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4B724753-D816-4EE1-FC34-8E8A7BB392AB}"/>
              </a:ext>
            </a:extLst>
          </p:cNvPr>
          <p:cNvSpPr/>
          <p:nvPr/>
        </p:nvSpPr>
        <p:spPr>
          <a:xfrm>
            <a:off x="4636528" y="4162363"/>
            <a:ext cx="3856463" cy="923580"/>
          </a:xfrm>
          <a:prstGeom prst="left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Collaborative tool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CD926A19-34A9-D7FF-F13A-9E8DAF3AFB72}"/>
              </a:ext>
            </a:extLst>
          </p:cNvPr>
          <p:cNvSpPr/>
          <p:nvPr/>
        </p:nvSpPr>
        <p:spPr>
          <a:xfrm rot="16200000">
            <a:off x="4443534" y="3207392"/>
            <a:ext cx="1639878" cy="651601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E741C5-08FA-483E-9D08-F4F174B5638A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Slide Number Placeholder 21">
            <a:extLst>
              <a:ext uri="{FF2B5EF4-FFF2-40B4-BE49-F238E27FC236}">
                <a16:creationId xmlns:a16="http://schemas.microsoft.com/office/drawing/2014/main" id="{08F5044F-6B91-46C0-B105-EB2885D6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EB6546A9-D52A-456A-80FC-FF0C72AD0F75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201541-B32F-4680-B812-9B37B4A8BF04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61B39C-E4EA-472D-BD80-4E926056DE3D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E1D84A2B-19E6-4559-8A76-CA051F00AE07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1425299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034C17-EDC2-2C1C-5428-CB32D4A6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72" y="167839"/>
            <a:ext cx="12195471" cy="1333550"/>
          </a:xfrm>
          <a:solidFill>
            <a:schemeClr val="accent5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2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300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54947-CA49-ED00-1EC9-D70401A0D9CE}"/>
              </a:ext>
            </a:extLst>
          </p:cNvPr>
          <p:cNvSpPr txBox="1"/>
          <p:nvPr/>
        </p:nvSpPr>
        <p:spPr>
          <a:xfrm>
            <a:off x="2665045" y="3080213"/>
            <a:ext cx="65530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noProof="0" dirty="0"/>
              <a:t>Thanks for Your Attention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9DB08-9382-F52B-91E0-A4736E00B6CC}"/>
              </a:ext>
            </a:extLst>
          </p:cNvPr>
          <p:cNvSpPr/>
          <p:nvPr/>
        </p:nvSpPr>
        <p:spPr>
          <a:xfrm>
            <a:off x="1972" y="2896450"/>
            <a:ext cx="219892" cy="11985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E6E4DF-7D98-86ED-CD40-6045E6185213}"/>
              </a:ext>
            </a:extLst>
          </p:cNvPr>
          <p:cNvSpPr/>
          <p:nvPr/>
        </p:nvSpPr>
        <p:spPr>
          <a:xfrm>
            <a:off x="0" y="1707333"/>
            <a:ext cx="219893" cy="1198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CACABF-DBF8-824C-D394-92333E5FE77E}"/>
              </a:ext>
            </a:extLst>
          </p:cNvPr>
          <p:cNvSpPr/>
          <p:nvPr/>
        </p:nvSpPr>
        <p:spPr>
          <a:xfrm>
            <a:off x="0" y="4085559"/>
            <a:ext cx="219893" cy="1198532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ction Button: Blank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7202577-F4B5-7CC8-0CB2-5D04EBE2C863}"/>
              </a:ext>
            </a:extLst>
          </p:cNvPr>
          <p:cNvSpPr/>
          <p:nvPr/>
        </p:nvSpPr>
        <p:spPr>
          <a:xfrm>
            <a:off x="1" y="1706172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C1EC058-B81C-51B2-F9F5-3D5CD4D6C097}"/>
              </a:ext>
            </a:extLst>
          </p:cNvPr>
          <p:cNvSpPr/>
          <p:nvPr/>
        </p:nvSpPr>
        <p:spPr>
          <a:xfrm>
            <a:off x="-8549" y="4085559"/>
            <a:ext cx="228442" cy="117677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noProof="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552AB5-31CF-4CE1-B2C0-41A35AA4B969}"/>
              </a:ext>
            </a:extLst>
          </p:cNvPr>
          <p:cNvSpPr/>
          <p:nvPr/>
        </p:nvSpPr>
        <p:spPr>
          <a:xfrm>
            <a:off x="-3471" y="6528341"/>
            <a:ext cx="12195471" cy="324373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lide Number Placeholder 21">
            <a:extLst>
              <a:ext uri="{FF2B5EF4-FFF2-40B4-BE49-F238E27FC236}">
                <a16:creationId xmlns:a16="http://schemas.microsoft.com/office/drawing/2014/main" id="{3383D5D5-D2A4-47C4-9578-FBB6CE1A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6940" y="6492876"/>
            <a:ext cx="1145060" cy="324810"/>
          </a:xfrm>
        </p:spPr>
        <p:txBody>
          <a:bodyPr/>
          <a:lstStyle/>
          <a:p>
            <a:r>
              <a:rPr lang="en-US" sz="2400" noProof="0" dirty="0">
                <a:solidFill>
                  <a:schemeClr val="bg1"/>
                </a:solidFill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fld id="{803F65FA-7923-4B97-8E0A-15C041323506}" type="slidenum">
              <a:rPr lang="en-US" sz="1800" b="1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r>
              <a:rPr lang="en-US" sz="18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743752D5-C359-448A-A29A-B6A9B1188FB4}"/>
              </a:ext>
            </a:extLst>
          </p:cNvPr>
          <p:cNvSpPr txBox="1">
            <a:spLocks/>
          </p:cNvSpPr>
          <p:nvPr/>
        </p:nvSpPr>
        <p:spPr>
          <a:xfrm>
            <a:off x="9099371" y="6544825"/>
            <a:ext cx="1987732" cy="3321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247902-F644-4687-9787-7650F74D506D}" type="datetime4">
              <a:rPr lang="en-US" sz="1800" b="1" noProof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11, 2025</a:t>
            </a:fld>
            <a:endParaRPr lang="en-US" sz="18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A0DE5-116C-4EA9-BB0B-5B697765F893}"/>
              </a:ext>
            </a:extLst>
          </p:cNvPr>
          <p:cNvSpPr txBox="1"/>
          <p:nvPr/>
        </p:nvSpPr>
        <p:spPr>
          <a:xfrm>
            <a:off x="3219582" y="6499182"/>
            <a:ext cx="57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Interview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05CCA-2407-4C9D-AA10-17FCAB8ACE0F}"/>
              </a:ext>
            </a:extLst>
          </p:cNvPr>
          <p:cNvSpPr txBox="1"/>
          <p:nvPr/>
        </p:nvSpPr>
        <p:spPr>
          <a:xfrm>
            <a:off x="323975" y="6492876"/>
            <a:ext cx="18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F6EFD198-FD87-472D-BE35-EF0A7579820A}"/>
              </a:ext>
            </a:extLst>
          </p:cNvPr>
          <p:cNvSpPr txBox="1">
            <a:spLocks/>
          </p:cNvSpPr>
          <p:nvPr/>
        </p:nvSpPr>
        <p:spPr>
          <a:xfrm>
            <a:off x="11005768" y="6492877"/>
            <a:ext cx="191355" cy="3693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25740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44009</TotalTime>
  <Words>1269</Words>
  <Application>Microsoft Office PowerPoint</Application>
  <PresentationFormat>Widescreen</PresentationFormat>
  <Paragraphs>260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Abenna</dc:creator>
  <cp:lastModifiedBy>user</cp:lastModifiedBy>
  <cp:revision>597</cp:revision>
  <dcterms:created xsi:type="dcterms:W3CDTF">2023-02-14T11:09:51Z</dcterms:created>
  <dcterms:modified xsi:type="dcterms:W3CDTF">2025-07-11T14:33:21Z</dcterms:modified>
</cp:coreProperties>
</file>